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3" r:id="rId3"/>
    <p:sldId id="285" r:id="rId4"/>
    <p:sldId id="308" r:id="rId5"/>
    <p:sldId id="318" r:id="rId6"/>
    <p:sldId id="309" r:id="rId7"/>
    <p:sldId id="314" r:id="rId8"/>
    <p:sldId id="315" r:id="rId9"/>
    <p:sldId id="316" r:id="rId10"/>
    <p:sldId id="317" r:id="rId11"/>
    <p:sldId id="319" r:id="rId12"/>
    <p:sldId id="286" r:id="rId13"/>
    <p:sldId id="292" r:id="rId14"/>
    <p:sldId id="287" r:id="rId15"/>
    <p:sldId id="288" r:id="rId16"/>
    <p:sldId id="300" r:id="rId17"/>
    <p:sldId id="301" r:id="rId18"/>
    <p:sldId id="307" r:id="rId19"/>
    <p:sldId id="305" r:id="rId20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Cambria Math" panose="02040503050406030204" pitchFamily="18" charset="0"/>
      <p:regular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Vladimir Script" panose="03050402040407070305" pitchFamily="66" charset="77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0"/>
    <p:restoredTop sz="94686"/>
  </p:normalViewPr>
  <p:slideViewPr>
    <p:cSldViewPr snapToGrid="0">
      <p:cViewPr varScale="1">
        <p:scale>
          <a:sx n="146" d="100"/>
          <a:sy n="146" d="100"/>
        </p:scale>
        <p:origin x="60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C4437D9-07BB-356F-03EA-5A032FA2E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97700B-7B36-DE79-AF5C-1266C13E9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17FC9D5-4DD7-5A2A-13C0-460F8F72E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27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C75B6C9-8836-3C92-0D8B-61A1FEA4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04C1AA-F063-31DC-D458-2B91BF7DB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F94BAF4-ECD2-7A54-5CC9-5ABBAE75C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3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F7501EB-48D1-60CB-B016-2F27E0B5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8A71885-8AFE-8E12-D8BD-307404A08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8342CC6-1AA1-0C3B-23BD-AE08301AB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50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4135658-6CB2-4358-CCC6-B5344FE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F8E441B-AE42-69FF-852A-1A8931EDF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D64233C-E05D-F43E-D55A-DCFA17184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49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FC78885-A990-CBB6-FB2C-5F73D089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AFB4E18-A070-06B3-7714-C0B3C4672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B688520-E2B8-F531-CE46-1F4FEA521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58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3D37C12-D14C-7C53-7B49-C0A7B8F1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AAC5B02-AAD3-DD1E-5BF5-676EE3DA0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9DE6E83-863C-E6DB-774C-341B48BE2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27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65D642A-D6F6-E87E-365C-49FB6341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D2F51-1E63-DFDB-A8CC-15C2B4A22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FAFB7F-0926-6092-53D1-1514A836C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34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15C077F-CA86-AA5E-3648-5F7956747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AB83A68-FF5F-5595-C74E-547BCE6BFC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4D46804-3C65-3AB9-DE5D-03BF37593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45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D7C363-8D9B-662D-D35E-EF694C15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3556C4-1FD6-C1D5-F772-CCFCA35CB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74E6DD-E044-75B0-83F3-00BA217D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90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89BB20D-1518-9F15-1CCE-CE578D87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B2C4164-46C2-3D2D-CC97-C7EB21B41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45A4AC1-BC45-B230-13DC-073DE8430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90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E3C6B5E-FCDB-9EF8-CC17-386914C3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53D92-9448-ACDA-7653-E48E9D40B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0C9986F-9DA2-F02D-1CFE-06C0DD471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21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learn/algorithms-on-graphs?specialization=data-structures-algorithm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oursera.org/learn/bits-algorithm-design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yw4FaxrwH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ptel.ac.in/courses/106105164" TargetMode="External"/><Relationship Id="rId5" Type="http://schemas.openxmlformats.org/officeDocument/2006/relationships/hyperlink" Target="https://nptel.ac.in/courses/106106131" TargetMode="External"/><Relationship Id="rId4" Type="http://schemas.openxmlformats.org/officeDocument/2006/relationships/hyperlink" Target="https://www.youtube.com/watch?v=B5PmlJACZ9Y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951584"/>
            <a:ext cx="8213400" cy="413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AND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CSE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/ 4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SEMESTER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4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DESIGN AND ANALYSIS OF ALGORITHMS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(24CSH-206/24ITH-206)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3                      Chapter No. 1                     Lecture No. 34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Bellman Ford Algorithm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Sumit Kumar Rana E18380                                                       Associate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12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 understand the concept of Bellman Ford Algorithm and  use it to solve 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Single Source Shortest Path problem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</a:p>
          <a:p>
            <a:pPr algn="just">
              <a:lnSpc>
                <a:spcPct val="90000"/>
              </a:lnSpc>
            </a:pPr>
            <a:endParaRPr lang="en-US" sz="28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Bellman Ford 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Algorithm 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516A7AF-FEFF-1208-4D57-1C31C5F7E7B9}"/>
              </a:ext>
            </a:extLst>
          </p:cNvPr>
          <p:cNvSpPr txBox="1"/>
          <p:nvPr/>
        </p:nvSpPr>
        <p:spPr>
          <a:xfrm>
            <a:off x="673795" y="1163254"/>
            <a:ext cx="807775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The Bellman–Ford algorithm is used to find the shortest paths from a single source vertex to all other vertices in a weighted graph.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It can handle graphs that contain </a:t>
            </a: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negative edge weights.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It also detects the presence of </a:t>
            </a: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negative weight cycles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, where no shortest path exists.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F63294C-03FA-BF01-08EC-675DDB24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83A72F1-0E90-8ADA-3D37-94C6D0811CDF}"/>
              </a:ext>
            </a:extLst>
          </p:cNvPr>
          <p:cNvGrpSpPr/>
          <p:nvPr/>
        </p:nvGrpSpPr>
        <p:grpSpPr>
          <a:xfrm>
            <a:off x="652101" y="584375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BBBC9CF-DDE9-3FCC-716F-0267F3CF06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EE20B36-A71A-542D-69CF-72D4183785C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Bellman Ford Algorithm 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DA9435E-2994-9308-F939-1D4750453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4633C-DBDA-24B7-F45E-1E1AA6AD5CB8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7815EE-2A19-3C3C-ADC8-E688392471DD}"/>
                  </a:ext>
                </a:extLst>
              </p:cNvPr>
              <p:cNvSpPr txBox="1"/>
              <p:nvPr/>
            </p:nvSpPr>
            <p:spPr>
              <a:xfrm>
                <a:off x="385500" y="1422025"/>
                <a:ext cx="7413793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Bellman–Ford works on the principle of </a:t>
                </a:r>
                <a:r>
                  <a:rPr lang="en-I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edge relaxation</a:t>
                </a:r>
                <a:r>
                  <a:rPr lang="en-I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Relaxation means checking whether the known shortest distance to a vertex can be improved by taking a particular edge.</a:t>
                </a:r>
              </a:p>
              <a:p>
                <a:r>
                  <a:rPr lang="en-I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If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/>
                        <m:t>𝑑𝑖𝑠𝑡</m:t>
                      </m:r>
                      <m:r>
                        <a:rPr lang="en-IN" sz="2000" i="1"/>
                        <m:t>[</m:t>
                      </m:r>
                      <m:r>
                        <a:rPr lang="en-IN" sz="2000" i="1"/>
                        <m:t>𝑢</m:t>
                      </m:r>
                      <m:r>
                        <a:rPr lang="en-IN" sz="2000" i="1"/>
                        <m:t>]+</m:t>
                      </m:r>
                      <m:r>
                        <a:rPr lang="en-IN" sz="2000" i="1"/>
                        <m:t>𝑤𝑒𝑖𝑔h𝑡</m:t>
                      </m:r>
                      <m:r>
                        <a:rPr lang="en-IN" sz="2000" i="1"/>
                        <m:t>(</m:t>
                      </m:r>
                      <m:r>
                        <a:rPr lang="en-IN" sz="2000" i="1"/>
                        <m:t>𝑢</m:t>
                      </m:r>
                      <m:r>
                        <a:rPr lang="en-IN" sz="2000" i="1"/>
                        <m:t>,</m:t>
                      </m:r>
                      <m:r>
                        <a:rPr lang="en-IN" sz="2000" i="1"/>
                        <m:t>𝑣</m:t>
                      </m:r>
                      <m:r>
                        <a:rPr lang="en-IN" sz="2000" i="1"/>
                        <m:t>)&lt;</m:t>
                      </m:r>
                      <m:r>
                        <a:rPr lang="en-IN" sz="2000" i="1"/>
                        <m:t>𝑑𝑖𝑠𝑡</m:t>
                      </m:r>
                      <m:r>
                        <a:rPr lang="en-IN" sz="2000" i="1"/>
                        <m:t>[</m:t>
                      </m:r>
                      <m:r>
                        <a:rPr lang="en-IN" sz="2000" i="1"/>
                        <m:t>𝑣</m:t>
                      </m:r>
                      <m:r>
                        <a:rPr lang="en-IN" sz="2000" i="1"/>
                        <m:t>]</m:t>
                      </m:r>
                    </m:oMath>
                  </m:oMathPara>
                </a14:m>
                <a:endParaRPr lang="en-I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then update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/>
                        <m:t>𝑑𝑖𝑠𝑡</m:t>
                      </m:r>
                      <m:r>
                        <a:rPr lang="en-IN" sz="2000" i="1"/>
                        <m:t>[</m:t>
                      </m:r>
                      <m:r>
                        <a:rPr lang="en-IN" sz="2000" i="1"/>
                        <m:t>𝑣</m:t>
                      </m:r>
                      <m:r>
                        <a:rPr lang="en-IN" sz="2000" i="1"/>
                        <m:t>]=</m:t>
                      </m:r>
                      <m:r>
                        <a:rPr lang="en-IN" sz="2000" i="1"/>
                        <m:t>𝑑𝑖𝑠𝑡</m:t>
                      </m:r>
                      <m:r>
                        <a:rPr lang="en-IN" sz="2000" i="1"/>
                        <m:t>[</m:t>
                      </m:r>
                      <m:r>
                        <a:rPr lang="en-IN" sz="2000" i="1"/>
                        <m:t>𝑢</m:t>
                      </m:r>
                      <m:r>
                        <a:rPr lang="en-IN" sz="2000" i="1"/>
                        <m:t>]+</m:t>
                      </m:r>
                      <m:r>
                        <a:rPr lang="en-IN" sz="2000" i="1"/>
                        <m:t>𝑤𝑒𝑖𝑔h𝑡</m:t>
                      </m:r>
                      <m:r>
                        <a:rPr lang="en-IN" sz="2000" i="1"/>
                        <m:t>(</m:t>
                      </m:r>
                      <m:r>
                        <a:rPr lang="en-IN" sz="2000" i="1"/>
                        <m:t>𝑢</m:t>
                      </m:r>
                      <m:r>
                        <a:rPr lang="en-IN" sz="2000" i="1"/>
                        <m:t>,</m:t>
                      </m:r>
                      <m:r>
                        <a:rPr lang="en-IN" sz="2000" i="1"/>
                        <m:t>𝑣</m:t>
                      </m:r>
                      <m:r>
                        <a:rPr lang="en-IN" sz="2000" i="1"/>
                        <m:t>)</m:t>
                      </m:r>
                    </m:oMath>
                  </m:oMathPara>
                </a14:m>
                <a:endParaRPr lang="en-I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7815EE-2A19-3C3C-ADC8-E68839247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00" y="1422025"/>
                <a:ext cx="7413793" cy="2554545"/>
              </a:xfrm>
              <a:prstGeom prst="rect">
                <a:avLst/>
              </a:prstGeom>
              <a:blipFill>
                <a:blip r:embed="rId3"/>
                <a:stretch>
                  <a:fillRect l="-685"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328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289E77F-5240-2C9C-0E4E-596B25B7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4686587-E2F2-80D1-DEFB-F222FD621632}"/>
              </a:ext>
            </a:extLst>
          </p:cNvPr>
          <p:cNvGrpSpPr/>
          <p:nvPr/>
        </p:nvGrpSpPr>
        <p:grpSpPr>
          <a:xfrm>
            <a:off x="652101" y="584375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9B43CC1-8318-0091-2C54-5DE48DBA100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4A6032E-513C-5CAA-4C95-ACC10DF560B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Bellman Ford Algorithm 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FD33DF8-9826-1159-1504-8362577AE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3F75B-CD06-61A4-4FAB-A936E5D9172B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8FC503-2058-86DD-4302-D92791E9A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196" y="1219586"/>
            <a:ext cx="5026698" cy="344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3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C9AF87B-53ED-5E93-85CB-C44753AF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C97C324-8095-D1D1-451C-E69B7BB19F5E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CA6B473-6CFD-4D70-B840-4A9BC120B42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8886EBD-0FFF-EBAF-3E94-1C981DCDAC02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22B742F-AE4A-6C73-84DF-385FC40527A0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9167E-C80D-CDCC-B494-92603C8B1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981200"/>
            <a:ext cx="7467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C12CF7-D807-1710-083D-C07B49F8196A}"/>
              </a:ext>
            </a:extLst>
          </p:cNvPr>
          <p:cNvSpPr txBox="1"/>
          <p:nvPr/>
        </p:nvSpPr>
        <p:spPr>
          <a:xfrm>
            <a:off x="783770" y="934760"/>
            <a:ext cx="78257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40"/>
              </a:spcBef>
              <a:buClr>
                <a:schemeClr val="dk1"/>
              </a:buClr>
              <a:buSzPts val="2200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At the time of initialization, all the vertices except the source are marked by ∞ and the source is marked by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34231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84CDF4-03F5-702C-D5D4-D79BA042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62B2977E-EF4F-49DF-C5F6-4DAE3DFE10F1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6763BA7-4BA6-A08D-D2E8-33ECB13525B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B21BBA0-5A70-DB0C-F177-325EF84FA09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0E737BB-D928-3885-4FF5-B4215620796B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1EB17-FF9B-040A-3572-7B411BDA50FB}"/>
              </a:ext>
            </a:extLst>
          </p:cNvPr>
          <p:cNvSpPr txBox="1"/>
          <p:nvPr/>
        </p:nvSpPr>
        <p:spPr>
          <a:xfrm>
            <a:off x="1051128" y="971131"/>
            <a:ext cx="7404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 the first step, all the vertices which are reachable from the source are updated by minimum cost. Hence, vertices 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are updated.</a:t>
            </a:r>
            <a:endParaRPr lang="en-US" sz="2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4A473C5-D22F-8E28-0A64-0447AB824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4900" y="1671850"/>
            <a:ext cx="6934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943B7E-63C5-74FC-9082-BCDB3CE4F431}"/>
              </a:ext>
            </a:extLst>
          </p:cNvPr>
          <p:cNvSpPr/>
          <p:nvPr/>
        </p:nvSpPr>
        <p:spPr>
          <a:xfrm>
            <a:off x="688058" y="4720381"/>
            <a:ext cx="6858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 the next step, vertices 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a, b, f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are updated.</a:t>
            </a:r>
          </a:p>
        </p:txBody>
      </p:sp>
    </p:spTree>
    <p:extLst>
      <p:ext uri="{BB962C8B-B14F-4D97-AF65-F5344CB8AC3E}">
        <p14:creationId xmlns:p14="http://schemas.microsoft.com/office/powerpoint/2010/main" val="24573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7536228-35D8-76F3-3414-12320B1F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24A022C-27BB-5B3D-FE27-6004EF7EBC36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43CD634-8B1D-2A34-B3AA-2B13A65DC052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B64C230-6A72-C3EA-2790-10756272BCC2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4FB940D-DC6E-7680-CB69-820FF32D420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F4754CE-91A0-7C52-8102-0B43494A4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5821" y="794957"/>
            <a:ext cx="7559554" cy="310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9875D7-5D1F-7D13-18C2-EC156E47D48C}"/>
              </a:ext>
            </a:extLst>
          </p:cNvPr>
          <p:cNvSpPr/>
          <p:nvPr/>
        </p:nvSpPr>
        <p:spPr>
          <a:xfrm>
            <a:off x="783770" y="4219193"/>
            <a:ext cx="685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Following the same logic, in this step vertices 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b, f, c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are updated.</a:t>
            </a:r>
          </a:p>
        </p:txBody>
      </p:sp>
    </p:spTree>
    <p:extLst>
      <p:ext uri="{BB962C8B-B14F-4D97-AF65-F5344CB8AC3E}">
        <p14:creationId xmlns:p14="http://schemas.microsoft.com/office/powerpoint/2010/main" val="2692092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0BF8206-3D07-1A27-52EB-35A296C2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A8452F0-184A-1297-9B5B-B4E6731915CA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89E55DF-5B27-C269-AC1D-61B965EA896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EA167CF-6B82-DF3D-809C-02E91315261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3DF56A-7BF8-0E61-1254-FB35E3B3B32C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3231FD-24F4-8E13-686B-C05BF05B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891" y="983456"/>
            <a:ext cx="8073633" cy="317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931775-EAA1-8357-6E96-BE7C45431D58}"/>
              </a:ext>
            </a:extLst>
          </p:cNvPr>
          <p:cNvSpPr/>
          <p:nvPr/>
        </p:nvSpPr>
        <p:spPr>
          <a:xfrm>
            <a:off x="1918447" y="4480728"/>
            <a:ext cx="3472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Here, vertices </a:t>
            </a:r>
            <a:r>
              <a:rPr lang="en-US" sz="1800" b="1" i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1800" b="1" i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 are updated.</a:t>
            </a:r>
          </a:p>
        </p:txBody>
      </p:sp>
    </p:spTree>
    <p:extLst>
      <p:ext uri="{BB962C8B-B14F-4D97-AF65-F5344CB8AC3E}">
        <p14:creationId xmlns:p14="http://schemas.microsoft.com/office/powerpoint/2010/main" val="1738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945A2DE-861B-5975-6E04-DFB4A71C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676A673-CC45-C577-FC61-A8BFF7A5F338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F4BCF88-32CA-6F80-C502-AD653C76A8B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0A2BFF4-2C51-57EC-481D-24B0F54A139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79301DC-5581-7291-E047-80E22CF5FD5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D82CFA7-286F-4D96-481A-44208CDCD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1103" y="1064418"/>
            <a:ext cx="7394344" cy="301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499632-8C2E-C65A-DCA0-828CBD03BA89}"/>
              </a:ext>
            </a:extLst>
          </p:cNvPr>
          <p:cNvSpPr/>
          <p:nvPr/>
        </p:nvSpPr>
        <p:spPr>
          <a:xfrm>
            <a:off x="792760" y="4138717"/>
            <a:ext cx="76434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Hence, the minimum distance between vertex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and vertex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is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Based on the predecessor information, the path is s→ h→ e→ g→ c→ d</a:t>
            </a:r>
          </a:p>
        </p:txBody>
      </p:sp>
    </p:spTree>
    <p:extLst>
      <p:ext uri="{BB962C8B-B14F-4D97-AF65-F5344CB8AC3E}">
        <p14:creationId xmlns:p14="http://schemas.microsoft.com/office/powerpoint/2010/main" val="4212975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BA9EAF8-2696-604F-4567-B9D72DE4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6D419DA9-7B3C-2FCD-EEDE-669CCDD8D1C9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9166B5-AA3C-06FB-6FB0-92E8B42540A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7A7F800-9617-31A1-F1FD-AEA509B8199F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Dijkstra vs Bellman Ford 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C987DBC-6DB8-C84B-0BFC-E305DA044AE2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3B2C39E-818D-FB70-4CBD-9EB6B32C39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32429"/>
                  </p:ext>
                </p:extLst>
              </p:nvPr>
            </p:nvGraphicFramePr>
            <p:xfrm>
              <a:off x="2216917" y="1283794"/>
              <a:ext cx="5054322" cy="210883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684774">
                      <a:extLst>
                        <a:ext uri="{9D8B030D-6E8A-4147-A177-3AD203B41FA5}">
                          <a16:colId xmlns:a16="http://schemas.microsoft.com/office/drawing/2014/main" val="3388753044"/>
                        </a:ext>
                      </a:extLst>
                    </a:gridCol>
                    <a:gridCol w="1684774">
                      <a:extLst>
                        <a:ext uri="{9D8B030D-6E8A-4147-A177-3AD203B41FA5}">
                          <a16:colId xmlns:a16="http://schemas.microsoft.com/office/drawing/2014/main" val="1883121916"/>
                        </a:ext>
                      </a:extLst>
                    </a:gridCol>
                    <a:gridCol w="1684774">
                      <a:extLst>
                        <a:ext uri="{9D8B030D-6E8A-4147-A177-3AD203B41FA5}">
                          <a16:colId xmlns:a16="http://schemas.microsoft.com/office/drawing/2014/main" val="4196122491"/>
                        </a:ext>
                      </a:extLst>
                    </a:gridCol>
                  </a:tblGrid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 b="1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Feature</a:t>
                          </a:r>
                          <a:endParaRPr lang="en-IN" sz="1100" b="1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 b="1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Bellman–Ford</a:t>
                          </a:r>
                          <a:endParaRPr lang="en-IN" sz="1100" b="1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  <a:buNone/>
                          </a:pPr>
                          <a:r>
                            <a:rPr lang="en-IN" sz="1200" b="1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Dijkstra</a:t>
                          </a:r>
                          <a:endParaRPr lang="en-IN" sz="1100" b="1" dirty="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55625370"/>
                      </a:ext>
                    </a:extLst>
                  </a:tr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Negative weights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Allowed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  <a:buNone/>
                          </a:pPr>
                          <a:r>
                            <a:rPr lang="en-IN" sz="12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Not allowed</a:t>
                          </a:r>
                          <a:endParaRPr lang="en-IN" sz="1100" dirty="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232794"/>
                      </a:ext>
                    </a:extLst>
                  </a:tr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Negative cycle detection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Yes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No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55999659"/>
                      </a:ext>
                    </a:extLst>
                  </a:tr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Time complexity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𝑉𝐸</m:t>
                                </m:r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IN" sz="12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90989379"/>
                      </a:ext>
                    </a:extLst>
                  </a:tr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Approach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Relaxation-based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  <a:buNone/>
                          </a:pPr>
                          <a:r>
                            <a:rPr lang="en-IN" sz="12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Greedy</a:t>
                          </a:r>
                          <a:endParaRPr lang="en-IN" sz="1100" dirty="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9713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3B2C39E-818D-FB70-4CBD-9EB6B32C39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32429"/>
                  </p:ext>
                </p:extLst>
              </p:nvPr>
            </p:nvGraphicFramePr>
            <p:xfrm>
              <a:off x="2216917" y="1283794"/>
              <a:ext cx="5054322" cy="210883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684774">
                      <a:extLst>
                        <a:ext uri="{9D8B030D-6E8A-4147-A177-3AD203B41FA5}">
                          <a16:colId xmlns:a16="http://schemas.microsoft.com/office/drawing/2014/main" val="3388753044"/>
                        </a:ext>
                      </a:extLst>
                    </a:gridCol>
                    <a:gridCol w="1684774">
                      <a:extLst>
                        <a:ext uri="{9D8B030D-6E8A-4147-A177-3AD203B41FA5}">
                          <a16:colId xmlns:a16="http://schemas.microsoft.com/office/drawing/2014/main" val="1883121916"/>
                        </a:ext>
                      </a:extLst>
                    </a:gridCol>
                    <a:gridCol w="1684774">
                      <a:extLst>
                        <a:ext uri="{9D8B030D-6E8A-4147-A177-3AD203B41FA5}">
                          <a16:colId xmlns:a16="http://schemas.microsoft.com/office/drawing/2014/main" val="4196122491"/>
                        </a:ext>
                      </a:extLst>
                    </a:gridCol>
                  </a:tblGrid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 b="1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Feature</a:t>
                          </a:r>
                          <a:endParaRPr lang="en-IN" sz="1100" b="1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 b="1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Bellman–Ford</a:t>
                          </a:r>
                          <a:endParaRPr lang="en-IN" sz="1100" b="1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  <a:buNone/>
                          </a:pPr>
                          <a:r>
                            <a:rPr lang="en-IN" sz="1200" b="1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Dijkstra</a:t>
                          </a:r>
                          <a:endParaRPr lang="en-IN" sz="1100" b="1" dirty="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55625370"/>
                      </a:ext>
                    </a:extLst>
                  </a:tr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Negative weights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Allowed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  <a:buNone/>
                          </a:pPr>
                          <a:r>
                            <a:rPr lang="en-IN" sz="12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Not allowed</a:t>
                          </a:r>
                          <a:endParaRPr lang="en-IN" sz="1100" dirty="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232794"/>
                      </a:ext>
                    </a:extLst>
                  </a:tr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Negative cycle detection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Yes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No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55999659"/>
                      </a:ext>
                    </a:extLst>
                  </a:tr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Time complexity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52" t="-297059" r="-10075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52" t="-297059" r="-752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0989379"/>
                      </a:ext>
                    </a:extLst>
                  </a:tr>
                  <a:tr h="421767"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Approach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IN" sz="12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Relaxation-based</a:t>
                          </a:r>
                          <a:endParaRPr lang="en-IN" sz="110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  <a:buNone/>
                          </a:pPr>
                          <a:r>
                            <a:rPr lang="en-IN" sz="12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Greedy</a:t>
                          </a:r>
                          <a:endParaRPr lang="en-IN" sz="1100" dirty="0">
                            <a:solidFill>
                              <a:sysClr val="windowText" lastClr="000000"/>
                            </a:solidFill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9713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55216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CA46449-103B-2CB3-E783-17367956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771896" y="218172"/>
            <a:ext cx="8158348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Applications of the Topic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88023" y="1089512"/>
            <a:ext cx="721848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Routing Information Protocol (RIP) employs Bellman-Ford to compute optimal data packet paths across networks.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GPS applications apply Bellman-Ford for route optimization.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Transportation networks leverage it to minimize travel times or costs in urban planning.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Robots navigate obstacle-filled environments using Bellman-Ford to compute shortest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92499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0069C43-A6C1-2A5A-FF86-50FF7E83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12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 algn="just">
              <a:lnSpc>
                <a:spcPct val="9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of Bellman ford 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Algorithm to solve single source shortest path problem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 algn="just">
              <a:lnSpc>
                <a:spcPct val="9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Detection of Negative weight cycle in a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33566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1A71372-B014-307D-6154-2C9E638C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Floyd </a:t>
            </a:r>
            <a:r>
              <a:rPr lang="en-US" sz="2800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Warshall</a:t>
            </a: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Algorithm for all pair shortest path problem.</a:t>
            </a:r>
            <a:endParaRPr lang="en-US" sz="28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22310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D1B78-4350-245A-64E9-9868EA13CC69}"/>
              </a:ext>
            </a:extLst>
          </p:cNvPr>
          <p:cNvSpPr txBox="1"/>
          <p:nvPr/>
        </p:nvSpPr>
        <p:spPr>
          <a:xfrm>
            <a:off x="565284" y="1049593"/>
            <a:ext cx="421240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1. Given a directed weighted graph with a source 𝑠, what key property allows the Bellman-Ford algorithm to correctly relax edges up to 𝑉−1 times to find single-source shortest paths?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a) Edge weights are all non-negative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b) There is a unique shortest path to every vertex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c) The graph must be acyclic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d) Shortest paths contain at most 𝑉−1 edges in a graph with 𝑉 vertices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2. What is the time complexity of the standard Bellman-Ford algorithm on a graph with 𝑉 vertices and 𝐸 edges?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a) 𝒪(𝑉𝐸)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b) 𝒪(𝑉^2 )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c) 𝒪(𝐸+𝑉)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d) 𝒪(𝐸 log⁡𝑉 )</a:t>
            </a:r>
          </a:p>
          <a:p>
            <a:endParaRPr lang="en-IN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BCEA4-EEBC-96EC-76ED-A26DB787F205}"/>
              </a:ext>
            </a:extLst>
          </p:cNvPr>
          <p:cNvSpPr txBox="1"/>
          <p:nvPr/>
        </p:nvSpPr>
        <p:spPr>
          <a:xfrm>
            <a:off x="4700336" y="1049593"/>
            <a:ext cx="4445495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3. For a graph with 𝑉 vertices and edges possibly negative but no negative cycles, what is the maximum number of iterations after which all shortest paths are guaranteed to be correct?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a) Depends on the number of negative edges only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b) 𝑉−1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c) 𝐸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d) 𝑉</a:t>
            </a:r>
          </a:p>
          <a:p>
            <a:endParaRPr lang="ar-AE" sz="1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4. Which condition correctly signals a reachable negative-weight cycle in Bellman-Ford?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a) The source vertex has a self-loop of weight zero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b) A vertex remains unreachable after 𝑉−1 passes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c) Some edge has negative weight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d) An edge (𝑢,𝑣) can still be relaxed on the 𝑉-</a:t>
            </a:r>
            <a:r>
              <a:rPr lang="en-IN" sz="1300" dirty="0" err="1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  <a:p>
            <a:endParaRPr lang="en-IN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021177"/>
            <a:ext cx="8942119" cy="3624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books: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Cormen</a:t>
            </a: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5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Leiserson</a:t>
            </a: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Rivest, Stein, “Introduction to Algorithms”, Prentice Hall of India, 3rd edition 2012. problem, Graph coloring.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Horowitz, Sahni and Rajasekaran, “Fundamentals of </a:t>
            </a:r>
            <a:r>
              <a:rPr lang="en-US" sz="25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ComputerAlgorithms</a:t>
            </a: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”, University Press (India), 2nd edition</a:t>
            </a:r>
          </a:p>
          <a:p>
            <a:pPr algn="just">
              <a:lnSpc>
                <a:spcPct val="90000"/>
              </a:lnSpc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https://www.coursera.org/learn/algorithms-on-graphs?specialization=data-structures-algorithms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https://www.coursera.org/learn/bits-algorithm-design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4989" y="1285244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59C2B9C-619B-7F1D-73C8-04AA5F67C4ED}"/>
              </a:ext>
            </a:extLst>
          </p:cNvPr>
          <p:cNvSpPr txBox="1"/>
          <p:nvPr/>
        </p:nvSpPr>
        <p:spPr>
          <a:xfrm>
            <a:off x="50843" y="1907716"/>
            <a:ext cx="894211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https://www.youtube.com/watch?v=lyw4FaxrwHg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https://www.youtube.com/watch?v=B5PmlJACZ9Y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https://nptel.ac.in/courses/106106131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https://nptel.ac.in/courses/106105164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sumit.e18380@cumail.in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</TotalTime>
  <Words>975</Words>
  <Application>Microsoft Macintosh PowerPoint</Application>
  <PresentationFormat>On-screen Show (16:9)</PresentationFormat>
  <Paragraphs>140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Times New Roman</vt:lpstr>
      <vt:lpstr>Calibri</vt:lpstr>
      <vt:lpstr>Cambria Math</vt:lpstr>
      <vt:lpstr>Vladimir Script</vt:lpstr>
      <vt:lpstr>Lato</vt:lpstr>
      <vt:lpstr>Arial Black</vt:lpstr>
      <vt:lpstr>Arial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sumit rana</cp:lastModifiedBy>
  <cp:revision>158</cp:revision>
  <dcterms:modified xsi:type="dcterms:W3CDTF">2025-12-15T09:53:26Z</dcterms:modified>
</cp:coreProperties>
</file>
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3" r:id="rId3"/>
    <p:sldId id="277" r:id="rId4"/>
    <p:sldId id="278" r:id="rId5"/>
    <p:sldId id="460" r:id="rId6"/>
    <p:sldId id="461" r:id="rId7"/>
    <p:sldId id="463" r:id="rId8"/>
    <p:sldId id="464" r:id="rId9"/>
    <p:sldId id="462" r:id="rId10"/>
    <p:sldId id="465" r:id="rId11"/>
    <p:sldId id="280" r:id="rId12"/>
    <p:sldId id="466" r:id="rId13"/>
    <p:sldId id="281" r:id="rId14"/>
    <p:sldId id="282" r:id="rId15"/>
    <p:sldId id="284" r:id="rId16"/>
    <p:sldId id="285" r:id="rId17"/>
    <p:sldId id="447" r:id="rId18"/>
    <p:sldId id="286" r:id="rId19"/>
    <p:sldId id="467" r:id="rId20"/>
    <p:sldId id="288" r:id="rId21"/>
    <p:sldId id="468" r:id="rId22"/>
    <p:sldId id="292" r:id="rId23"/>
    <p:sldId id="287" r:id="rId24"/>
    <p:sldId id="444" r:id="rId25"/>
    <p:sldId id="300" r:id="rId26"/>
    <p:sldId id="301" r:id="rId27"/>
    <p:sldId id="307" r:id="rId28"/>
    <p:sldId id="305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84" autoAdjust="0"/>
  </p:normalViewPr>
  <p:slideViewPr>
    <p:cSldViewPr snapToGrid="0">
      <p:cViewPr varScale="1">
        <p:scale>
          <a:sx n="71" d="100"/>
          <a:sy n="71" d="100"/>
        </p:scale>
        <p:origin x="48" y="57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64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EEC2A2-5045-C8AA-B002-355B2445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81B6245-5BBB-16FB-ECF7-BE540D794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B0520E2-8841-7816-E1D9-1883FCB49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5764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800100"/>
            <a:ext cx="7924800" cy="4572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14450"/>
            <a:ext cx="8001000" cy="33718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30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3" r:id="rId11"/>
    <p:sldLayoutId id="214748366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uru99.com/operating-system-tutorial.html" TargetMode="External"/><Relationship Id="rId3" Type="http://schemas.openxmlformats.org/officeDocument/2006/relationships/hyperlink" Target="https://www.includehelp.com/c-programming-questions/" TargetMode="External"/><Relationship Id="rId7" Type="http://schemas.openxmlformats.org/officeDocument/2006/relationships/hyperlink" Target="https://www.javatpoint.com/os-tutoria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utorialspoint.com/operating_system/index.htm" TargetMode="External"/><Relationship Id="rId5" Type="http://schemas.openxmlformats.org/officeDocument/2006/relationships/hyperlink" Target="https://computing.llnl.gov/tutorials/" TargetMode="External"/><Relationship Id="rId4" Type="http://schemas.openxmlformats.org/officeDocument/2006/relationships/hyperlink" Target="https://www.studytonight.com/operating-system/" TargetMode="External"/><Relationship Id="rId9" Type="http://schemas.openxmlformats.org/officeDocument/2006/relationships/hyperlink" Target="https://www.geeksforgeeks.org/operating-systems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ptel.ac.in/courses/10610521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0936" y="615553"/>
            <a:ext cx="8213400" cy="408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SCIENCE &amp; ENGINEERING </a:t>
            </a:r>
          </a:p>
          <a:p>
            <a:pPr marL="130175" marR="133985" indent="-41275" algn="ctr">
              <a:lnSpc>
                <a:spcPct val="102000"/>
              </a:lnSpc>
              <a:spcBef>
                <a:spcPts val="60"/>
              </a:spcBef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 OF ENGINEERING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CSE/ 4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SEMESTER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SYSTEM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US" sz="2400" spc="-1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24CST-</a:t>
            </a:r>
            <a:r>
              <a:rPr lang="en-US" sz="2400" spc="-25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205/24ITT-205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No.3                    Chapter No. 2                   Lecture No.35                                      Topic :Allocation Methods and Free Space Management</a:t>
            </a:r>
            <a:endParaRPr lang="en-US" sz="1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Anu Kaushik                                                               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92727" y="257450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0969339-F5BC-BD1C-090A-1C0E7BB94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B1F467-2732-5502-D521-EE02FAD3B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00" y="1639748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18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9A0D1B-746C-DB5A-CE6A-E7B419D05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89" y="1911976"/>
            <a:ext cx="860952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72E387-03A0-9A5A-AF67-793819EC2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87" y="1898000"/>
            <a:ext cx="88585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BFA4937-8D6B-614E-5F05-85ECDF836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3B3BD-40D8-D446-1C29-F058CDC9D5A6}"/>
              </a:ext>
            </a:extLst>
          </p:cNvPr>
          <p:cNvSpPr txBox="1"/>
          <p:nvPr/>
        </p:nvSpPr>
        <p:spPr>
          <a:xfrm>
            <a:off x="345080" y="1017478"/>
            <a:ext cx="836053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different file allocation methods (contiguous, linked, indexed) and their impact on performance and storage efficiency.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free space management techniques (bit map, linked list, grouping) for effective utilization of disk space.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84404"/>
            <a:ext cx="730300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 Methods - Contiguous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" y="870966"/>
            <a:ext cx="8363712" cy="3943350"/>
          </a:xfrm>
        </p:spPr>
        <p:txBody>
          <a:bodyPr>
            <a:normAutofit lnSpcReduction="10000"/>
          </a:bodyPr>
          <a:lstStyle/>
          <a:p>
            <a:pPr marL="14605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allocation method refers to how disk blocks are allocated for files: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4605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Contiguous allocation – each file occupies set of contiguous blocks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 performance in most cases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– only starting location (block #) and length (number of blocks) are required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Problems include finding space for file, knowing file size, external fragmentation, need for compaction off-line (downtime) or on-line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3FD7C0AC-6F32-DF2C-F422-CC695F417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6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588" y="160114"/>
            <a:ext cx="6132576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Contiguous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03" y="885824"/>
            <a:ext cx="8001000" cy="3942207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logical to physical</a:t>
            </a:r>
          </a:p>
          <a:p>
            <a:pPr algn="just"/>
            <a:endParaRPr lang="en-US" sz="1350" dirty="0">
              <a:latin typeface="Times" pitchFamily="18" charset="0"/>
            </a:endParaRP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3E7C0032-D7D4-BF2F-8B2F-AE392659E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4C08B-E35C-7331-70FA-16FD0CE1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42" y="1880045"/>
            <a:ext cx="4718602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5CF7-3B2B-EE46-2501-A6C1CA04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A093-46AA-7D23-F0FB-5C90A1E5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228600"/>
            <a:ext cx="785164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Contiguous Allocation of Disk Space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29D78D64-AC2E-1547-CB37-A83590FB8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289798-5E8F-3DED-313B-1DD6C47F1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8" y="885824"/>
            <a:ext cx="6881126" cy="367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9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6D15-FC76-A1D1-2DB5-BCBD0311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4CA1-7BD8-4C0F-748F-4F6E1EAE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228600"/>
            <a:ext cx="785164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 Methods - Linked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50DA-FD1B-7966-009F-29322E956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03" y="885824"/>
            <a:ext cx="8001000" cy="3942207"/>
          </a:xfrm>
        </p:spPr>
        <p:txBody>
          <a:bodyPr>
            <a:normAutofit/>
          </a:bodyPr>
          <a:lstStyle/>
          <a:p>
            <a:pPr marL="14605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allocation – each file a linked list of blocks</a:t>
            </a:r>
          </a:p>
          <a:p>
            <a:pPr marL="146050" indent="0" algn="just">
              <a:buNone/>
            </a:pPr>
            <a:endParaRPr lang="en-US" sz="1350" dirty="0">
              <a:latin typeface="Times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18" charset="0"/>
              </a:rPr>
              <a:t>File ends at nil pointer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>
              <a:latin typeface="Times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18" charset="0"/>
              </a:rPr>
              <a:t>No external fragmentation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>
              <a:latin typeface="Times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18" charset="0"/>
              </a:rPr>
              <a:t>Each block contains pointer to next block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>
              <a:latin typeface="Times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18" charset="0"/>
              </a:rPr>
              <a:t>No compaction, external fragmentation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5790F418-0662-0CC9-E45C-86669F09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5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065E3-A876-CE24-8F30-E7BFB7B7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AAD2-916E-3491-7638-561704D2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228600"/>
            <a:ext cx="785164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 Methods - Linked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4DBB1-74C3-67C5-53B9-F8A69FC07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02" y="885824"/>
            <a:ext cx="8398755" cy="3942207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space management system called when new block needed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 by clustering blocks into groups but increases internal fragmentation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can be a problem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Locating a block can take many I/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disk seeks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15A8EC46-D927-7082-05C6-793C71EED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1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E984-D51F-C95C-D85D-DD8C8235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C2C8-6440-0883-654C-EA275207B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228600"/>
            <a:ext cx="785164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 Methods - Linked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0337-DF06-1233-F2D1-9ADD59E97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03" y="885824"/>
            <a:ext cx="8001000" cy="3942207"/>
          </a:xfrm>
        </p:spPr>
        <p:txBody>
          <a:bodyPr>
            <a:noAutofit/>
          </a:bodyPr>
          <a:lstStyle/>
          <a:p>
            <a:pPr marL="14605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(File Allocation Table) variation</a:t>
            </a:r>
          </a:p>
          <a:p>
            <a:pPr marL="14605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of volume has table, indexed by block number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like a linked list, but faster on disk and cacheable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block allocation simple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C3C84D54-87E4-01FC-DEE1-5C33AB3C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3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533E-28E9-070F-E23E-0B5DE36E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A0EC-775D-B3DE-EB70-2C2BAB80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228600"/>
            <a:ext cx="785164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5F1BA-BA3D-F5D5-3F1C-20C32E649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03" y="885824"/>
            <a:ext cx="8001000" cy="3942207"/>
          </a:xfrm>
        </p:spPr>
        <p:txBody>
          <a:bodyPr>
            <a:normAutofit/>
          </a:bodyPr>
          <a:lstStyle/>
          <a:p>
            <a:pPr marL="14605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file is a linked list of disk blocks: blocks may be scattered anywhere on the disk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AF5C3C15-6B12-E5D3-98EB-3A94F7D9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E534B3-4F57-D24D-A3E5-F0698D35C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181" y="2293914"/>
            <a:ext cx="3429479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1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070D-9926-1BFE-DAB7-12971F28E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D18B-AB64-6F92-175F-7961E166E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409" y="225329"/>
            <a:ext cx="4016188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0B62-2D95-ED70-D6B5-C693156D0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03" y="885824"/>
            <a:ext cx="8001000" cy="3942207"/>
          </a:xfrm>
        </p:spPr>
        <p:txBody>
          <a:bodyPr>
            <a:normAutofit/>
          </a:bodyPr>
          <a:lstStyle/>
          <a:p>
            <a:pPr marL="14605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AB5C2A95-1B74-90CF-1963-B483F3D65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7B59B-7FC6-A668-7308-55F411F70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212" y="1154081"/>
            <a:ext cx="1838582" cy="1495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8BAD4E-84C5-9B43-E98A-17F359FC9D39}"/>
              </a:ext>
            </a:extLst>
          </p:cNvPr>
          <p:cNvSpPr txBox="1"/>
          <p:nvPr/>
        </p:nvSpPr>
        <p:spPr>
          <a:xfrm>
            <a:off x="792480" y="3513505"/>
            <a:ext cx="75172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Block to be accessed is the </a:t>
            </a:r>
            <a:r>
              <a:rPr lang="en-IN" dirty="0" err="1"/>
              <a:t>Qth</a:t>
            </a:r>
            <a:r>
              <a:rPr lang="en-IN" dirty="0"/>
              <a:t> block in the linked chain of blocks representing the file.</a:t>
            </a:r>
          </a:p>
          <a:p>
            <a:endParaRPr lang="en-IN" dirty="0"/>
          </a:p>
          <a:p>
            <a:r>
              <a:rPr lang="en-IN" dirty="0"/>
              <a:t>Displacement into block = R + 1</a:t>
            </a:r>
          </a:p>
        </p:txBody>
      </p:sp>
    </p:spTree>
    <p:extLst>
      <p:ext uri="{BB962C8B-B14F-4D97-AF65-F5344CB8AC3E}">
        <p14:creationId xmlns:p14="http://schemas.microsoft.com/office/powerpoint/2010/main" val="188551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539" y="114300"/>
            <a:ext cx="4251039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 Allocation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B8C14B-1E26-452E-8E0F-2989162C9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994" y="967563"/>
            <a:ext cx="6751899" cy="360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AC466E07-1DCC-804D-AFAB-FDF0DCE8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28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4367-D94E-BFD3-6E0E-534F54F5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23DF-2C69-79E2-DA40-80E72D43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853" y="124268"/>
            <a:ext cx="5582094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File-Allocation Table</a:t>
            </a:r>
          </a:p>
        </p:txBody>
      </p:sp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BC1D2EFF-E71C-076D-89AF-28647118A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7E947-906D-A460-CFEA-8B8F12987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565DCA-4DEF-D38D-4684-F0C8859FE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" y="978195"/>
            <a:ext cx="7899991" cy="381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0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005" y="233934"/>
            <a:ext cx="6854739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 Methods - Indexed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BD5472F4-15AC-D4A1-6D2A-8F2C5D8AB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6EE352-7A11-9B55-9154-CAB374ADC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67" y="988828"/>
            <a:ext cx="7921255" cy="415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72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642" y="171450"/>
            <a:ext cx="7123814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of Indexed Allocation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350A27-C324-1964-C07E-CD288E4D8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237" y="806450"/>
            <a:ext cx="7123814" cy="374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6F8BCEF5-E5BE-CD92-CFD2-E6C815B71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48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0967" y="213360"/>
            <a:ext cx="6039293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Free-Space Management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DC4203-6B52-1F9A-18CD-50E38CA02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217" y="861237"/>
            <a:ext cx="7615127" cy="38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84953963-4C2C-8635-5581-458595D1E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D39DF2BE-8E9C-3A64-732F-65F8E6B88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17" y="1013637"/>
            <a:ext cx="7615127" cy="3827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4356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195" y="91677"/>
            <a:ext cx="7283303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Free-Space Management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217" y="595325"/>
            <a:ext cx="4736592" cy="4754406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D0BF6A26-4FD3-0D19-8D57-E6A45F7D4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D6D31-F1DB-46EF-0C2C-CF946E23E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17" y="752221"/>
            <a:ext cx="7578281" cy="429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E2DA-78E9-4D15-2B89-734C8F3D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035B-6FC4-5826-1ABE-0C409B15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274" y="139446"/>
            <a:ext cx="6698512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 Free Space List on Disk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2FCFFEF0-D510-C5AA-B9A7-7787D6337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302F1-9DA6-37B7-02A8-FC530242B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915" y="857250"/>
            <a:ext cx="7046359" cy="376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9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088" y="88011"/>
            <a:ext cx="7437120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Free-Space Management (Cont.)</a:t>
            </a:r>
          </a:p>
        </p:txBody>
      </p:sp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3006A381-22AF-2C6A-B765-56D62DFD4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FF4C82-1BEA-0391-0CA8-9ECEA7590528}"/>
              </a:ext>
            </a:extLst>
          </p:cNvPr>
          <p:cNvSpPr txBox="1"/>
          <p:nvPr/>
        </p:nvSpPr>
        <p:spPr>
          <a:xfrm>
            <a:off x="432816" y="916847"/>
            <a:ext cx="874166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linked list to store address of next n-1 free blocks in first free block, plus a pointer to next block that contains free-block-pointers (like this one)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8999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F36F-729D-504C-7865-71E414A2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CAC6-496A-3001-607D-03BD8081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88011"/>
            <a:ext cx="7437120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Free-Space Management (Cont.)</a:t>
            </a:r>
          </a:p>
        </p:txBody>
      </p:sp>
      <p:pic>
        <p:nvPicPr>
          <p:cNvPr id="5" name="Picture 4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6ECCE79C-36A2-287E-CB36-BDB34A62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C34637-41D6-8BD8-E38D-B1E51CD30395}"/>
              </a:ext>
            </a:extLst>
          </p:cNvPr>
          <p:cNvSpPr txBox="1"/>
          <p:nvPr/>
        </p:nvSpPr>
        <p:spPr>
          <a:xfrm>
            <a:off x="432816" y="916847"/>
            <a:ext cx="874166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space is frequently contiguously used and freed, with contiguous-allocation allocation, extents, or clustering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Keep address of first free block and count of following free blocks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Free space list then has entries containing addresses and counts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212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911" y="140445"/>
            <a:ext cx="7263345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97645"/>
            <a:ext cx="8802624" cy="4045746"/>
          </a:xfrm>
        </p:spPr>
        <p:txBody>
          <a:bodyPr>
            <a:noAutofit/>
          </a:bodyPr>
          <a:lstStyle/>
          <a:p>
            <a:pPr marL="146050" indent="0" algn="just"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4605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Efficiency dependent on: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Disk allocation and directory algorithms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data kept in file’s directory entry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Pre-allocation or as-needed allocation of metadata structures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Fixed-size or varying-size data structures.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68F632F0-A85D-1130-822A-AD6A64661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82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D154-5CC4-ECEB-BE10-6E9B300D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A4AD-85BA-C59E-D37A-1B6416BC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11" y="140445"/>
            <a:ext cx="7263345" cy="457200"/>
          </a:xfrm>
        </p:spPr>
        <p:txBody>
          <a:bodyPr/>
          <a:lstStyle/>
          <a:p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27FBB-F75F-8066-025F-2EC6357F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97644"/>
            <a:ext cx="8802624" cy="4961907"/>
          </a:xfrm>
        </p:spPr>
        <p:txBody>
          <a:bodyPr>
            <a:noAutofit/>
          </a:bodyPr>
          <a:lstStyle/>
          <a:p>
            <a:pPr marL="146050" indent="0" algn="just"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4605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Performance: </a:t>
            </a:r>
          </a:p>
          <a:p>
            <a:pPr marL="146050" indent="0" algn="just"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Keeping data and metadata close together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Buffer cache – separate section of main memory for frequently used blocks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Synchronous writes sometimes requested by apps or needed by 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buffering / caching – writes must hit disk before acknowledgement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Asynchronous writes more common, buffer-able, faster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Free-behind and read-ahead – techniques to optimize sequential access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Reads frequently slower than writes</a:t>
            </a:r>
          </a:p>
        </p:txBody>
      </p:sp>
      <p:pic>
        <p:nvPicPr>
          <p:cNvPr id="4" name="Picture 3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15F02231-FBA2-E838-620F-B797D930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0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6E5DA-9E06-549D-5812-74E977916B8D}"/>
              </a:ext>
            </a:extLst>
          </p:cNvPr>
          <p:cNvSpPr txBox="1"/>
          <p:nvPr/>
        </p:nvSpPr>
        <p:spPr>
          <a:xfrm>
            <a:off x="385500" y="684476"/>
            <a:ext cx="800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lecture enables the students to understand the concepts of file allocation methods and free space management in operating systems.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409697" y="1400321"/>
            <a:ext cx="535711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Protection and Security</a:t>
            </a:r>
            <a:endParaRPr lang="en-US" sz="28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7C300A1-7B53-6552-ABBA-3F137CA3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5D6AEC1-5640-DCE4-50AE-F997CDB5FDDC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089B14E-A697-518B-E4F6-86E37CB1CBF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F1EB450-383B-34FC-A32D-A520593AFEF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57C2678-9C8A-45E5-59B8-138FC81AF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55F0C-72F7-941E-2BA2-C5E73882ADF8}"/>
              </a:ext>
            </a:extLst>
          </p:cNvPr>
          <p:cNvSpPr txBox="1"/>
          <p:nvPr/>
        </p:nvSpPr>
        <p:spPr>
          <a:xfrm>
            <a:off x="712518" y="949114"/>
            <a:ext cx="76290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Q1. Which file allocation method stores file blocks in contiguous disk locations?</a:t>
            </a:r>
            <a:br>
              <a:rPr lang="en-US" sz="2000" dirty="0"/>
            </a:br>
            <a:r>
              <a:rPr lang="en-US" sz="2000" dirty="0"/>
              <a:t>A. Linked allocation</a:t>
            </a:r>
            <a:br>
              <a:rPr lang="en-US" sz="2000" dirty="0"/>
            </a:br>
            <a:r>
              <a:rPr lang="en-US" sz="2000" dirty="0"/>
              <a:t>B. Indexed allocation</a:t>
            </a:r>
            <a:br>
              <a:rPr lang="en-US" sz="2000" dirty="0"/>
            </a:br>
            <a:r>
              <a:rPr lang="en-US" sz="2000" dirty="0"/>
              <a:t>C. Contiguous allocation</a:t>
            </a:r>
            <a:br>
              <a:rPr lang="en-US" sz="2000" dirty="0"/>
            </a:br>
            <a:r>
              <a:rPr lang="en-US" sz="2000" dirty="0"/>
              <a:t>D. Random allocation</a:t>
            </a:r>
            <a:br>
              <a:rPr lang="en-US" sz="2000" dirty="0"/>
            </a:br>
            <a:br>
              <a:rPr lang="en-IN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Q2.</a:t>
            </a:r>
            <a:r>
              <a:rPr lang="en-US" sz="2000" dirty="0"/>
              <a:t> Which free space management technique uses a map of bits to track free and occupied blocks?</a:t>
            </a:r>
            <a:br>
              <a:rPr lang="en-US" sz="2000" dirty="0"/>
            </a:br>
            <a:r>
              <a:rPr lang="en-US" sz="2000" dirty="0"/>
              <a:t>A. Linked list</a:t>
            </a:r>
            <a:br>
              <a:rPr lang="en-US" sz="2000" dirty="0"/>
            </a:br>
            <a:r>
              <a:rPr lang="en-US" sz="2000" dirty="0"/>
              <a:t>B. Grouping</a:t>
            </a:r>
            <a:br>
              <a:rPr lang="en-US" sz="2000" dirty="0"/>
            </a:br>
            <a:r>
              <a:rPr lang="en-US" sz="2000" dirty="0"/>
              <a:t>C. Bit map (bit vector)</a:t>
            </a:r>
            <a:br>
              <a:rPr lang="en-US" sz="2000" dirty="0"/>
            </a:br>
            <a:r>
              <a:rPr lang="en-US" sz="2000" dirty="0"/>
              <a:t>D. Counting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326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488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https://www.includehelp.com/c-programming-questions/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https://www.studytonight.com/operating-system/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u="sng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https://computing.llnl.gov/tutorials/</a:t>
            </a:r>
            <a:endParaRPr lang="en-US" sz="1800" u="sng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u="sng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https://www.tutorialspoint.com/operating_system/index.htm#:~:text=An%20operating%20system%20(OS)%20is,software%20in%20a%20computer%20system.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u="sng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https://www.javatpoint.com/os-tutorial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u="sng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https://www.guru99.com/operating-system-tutorial.html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https://www.geeksforgeeks.org/operating-systems/</a:t>
            </a:r>
            <a:endParaRPr lang="en-US" sz="1800" u="sng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…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50843" y="1907716"/>
            <a:ext cx="8942119" cy="1643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https://nptel.ac.in/courses/106105214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https://www.linkedin.com/learning/iot-foundations-operating-systems-fundamentals-2018</a:t>
            </a:r>
            <a:endParaRPr lang="en-US" sz="2800" b="0" i="0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anu.e12329@cumail.in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6166</TotalTime>
  <Words>877</Words>
  <Application>Microsoft Office PowerPoint</Application>
  <PresentationFormat>On-screen Show (16:9)</PresentationFormat>
  <Paragraphs>161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Arial Black</vt:lpstr>
      <vt:lpstr>Calibri</vt:lpstr>
      <vt:lpstr>Cambria</vt:lpstr>
      <vt:lpstr>Lato</vt:lpstr>
      <vt:lpstr>Times</vt:lpstr>
      <vt:lpstr>Times New Roman</vt:lpstr>
      <vt:lpstr>Vladimir Script</vt:lpstr>
      <vt:lpstr>Wingdings</vt:lpstr>
      <vt:lpstr>Streamline</vt:lpstr>
      <vt:lpstr>PowerPoint Presentation</vt:lpstr>
      <vt:lpstr>PowerPoint Presentation</vt:lpstr>
      <vt:lpstr>Allocation Methods - Contiguous</vt:lpstr>
      <vt:lpstr>Contiguous Allocation</vt:lpstr>
      <vt:lpstr>Contiguous Allocation of Disk Space</vt:lpstr>
      <vt:lpstr>Allocation Methods - Linked</vt:lpstr>
      <vt:lpstr>Allocation Methods - Linked</vt:lpstr>
      <vt:lpstr>Allocation Methods - Linked</vt:lpstr>
      <vt:lpstr>Linked Allocation</vt:lpstr>
      <vt:lpstr>Linked Allocation</vt:lpstr>
      <vt:lpstr>Linked Allocation</vt:lpstr>
      <vt:lpstr>File-Allocation Table</vt:lpstr>
      <vt:lpstr>Allocation Methods - Indexed</vt:lpstr>
      <vt:lpstr>Example of Indexed Allocation</vt:lpstr>
      <vt:lpstr>Free-Space Management</vt:lpstr>
      <vt:lpstr>Free-Space Management (Cont.)</vt:lpstr>
      <vt:lpstr>Linked Free Space List on Disk</vt:lpstr>
      <vt:lpstr>Free-Space Management (Cont.)</vt:lpstr>
      <vt:lpstr>Free-Space Management (Cont.)</vt:lpstr>
      <vt:lpstr>Efficiency and Performance</vt:lpstr>
      <vt:lpstr>Efficiency and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Anu Kaushik</cp:lastModifiedBy>
  <cp:revision>172</cp:revision>
  <dcterms:modified xsi:type="dcterms:W3CDTF">2026-03-21T19:03:57Z</dcterms:modified>
</cp:coreProperties>
</file>
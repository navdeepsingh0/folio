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3" r:id="rId3"/>
    <p:sldId id="285" r:id="rId4"/>
    <p:sldId id="308" r:id="rId5"/>
    <p:sldId id="318" r:id="rId6"/>
    <p:sldId id="309" r:id="rId7"/>
    <p:sldId id="314" r:id="rId8"/>
    <p:sldId id="315" r:id="rId9"/>
    <p:sldId id="316" r:id="rId10"/>
    <p:sldId id="317" r:id="rId11"/>
    <p:sldId id="320" r:id="rId12"/>
    <p:sldId id="319" r:id="rId13"/>
    <p:sldId id="286" r:id="rId14"/>
    <p:sldId id="292" r:id="rId15"/>
    <p:sldId id="287" r:id="rId16"/>
    <p:sldId id="288" r:id="rId17"/>
    <p:sldId id="300" r:id="rId18"/>
    <p:sldId id="301" r:id="rId19"/>
    <p:sldId id="307" r:id="rId20"/>
    <p:sldId id="305" r:id="rId21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Vladimir Script" panose="03050402040407070305" pitchFamily="66" charset="77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54"/>
    <p:restoredTop sz="94678"/>
  </p:normalViewPr>
  <p:slideViewPr>
    <p:cSldViewPr snapToGrid="0">
      <p:cViewPr varScale="1">
        <p:scale>
          <a:sx n="145" d="100"/>
          <a:sy n="145" d="100"/>
        </p:scale>
        <p:origin x="10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C4437D9-07BB-356F-03EA-5A032FA2E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97700B-7B36-DE79-AF5C-1266C13E9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17FC9D5-4DD7-5A2A-13C0-460F8F72E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2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C75B6C9-8836-3C92-0D8B-61A1FEA4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04C1AA-F063-31DC-D458-2B91BF7DB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F94BAF4-ECD2-7A54-5CC9-5ABBAE75C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3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7501EB-48D1-60CB-B016-2F27E0B5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8A71885-8AFE-8E12-D8BD-307404A08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8342CC6-1AA1-0C3B-23BD-AE08301AB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4135658-6CB2-4358-CCC6-B5344FE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8E441B-AE42-69FF-852A-1A8931EDF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D64233C-E05D-F43E-D55A-DCFA171844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49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FC78885-A990-CBB6-FB2C-5F73D089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AFB4E18-A070-06B3-7714-C0B3C4672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B688520-E2B8-F531-CE46-1F4FEA521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58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3D37C12-D14C-7C53-7B49-C0A7B8F1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AAC5B02-AAD3-DD1E-5BF5-676EE3DA0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9DE6E83-863C-E6DB-774C-341B48BE2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273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65D642A-D6F6-E87E-365C-49FB6341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D2F51-1E63-DFDB-A8CC-15C2B4A22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FAFB7F-0926-6092-53D1-1514A836C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34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37A2F5A-0859-ADE3-C42C-03622BAB5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16D106-01D7-9F9F-2DE5-1CBD5761C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A378E75-539E-6EF0-6CED-687C5765BD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2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15C077F-CA86-AA5E-3648-5F795674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AB83A68-FF5F-5595-C74E-547BCE6BFC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4D46804-3C65-3AB9-DE5D-03BF37593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5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90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89BB20D-1518-9F15-1CCE-CE578D87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B2C4164-46C2-3D2D-CC97-C7EB21B41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45A4AC1-BC45-B230-13DC-073DE8430F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90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E3C6B5E-FCDB-9EF8-CC17-386914C3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9253D92-9448-ACDA-7653-E48E9D40B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0C9986F-9DA2-F02D-1CFE-06C0DD471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21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learn/algorithms-graphs-data-structure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cw.mit.edu/courses/6-006-introduction-to-algorithms-spring-2020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ZkzH5x0SK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ptel.ac.in/courses/106106131" TargetMode="External"/><Relationship Id="rId5" Type="http://schemas.openxmlformats.org/officeDocument/2006/relationships/hyperlink" Target="https://nptel.ac.in/courses/106108468" TargetMode="External"/><Relationship Id="rId4" Type="http://schemas.openxmlformats.org/officeDocument/2006/relationships/hyperlink" Target="https://www.youtube.com/watch?v=j0OUwduDOS0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AND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CSE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/ 4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TH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 SEMESTER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DESIGN AND ANALYSIS OF ALGORITHMS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(24CSH-206/24ITH-206)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3                      Chapter No. 1                     Lecture No. 33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Dijkstra’s Algorithm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Sumit Kumar Rana E18380                                                       Associate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125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 understand the concept of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Dijkstra’s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Algorithm and  use it to solve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Single Source Shortest Path problem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algn="just">
              <a:lnSpc>
                <a:spcPct val="90000"/>
              </a:lnSpc>
            </a:pP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Dijkstra’s 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Algorithm 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516A7AF-FEFF-1208-4D57-1C31C5F7E7B9}"/>
              </a:ext>
            </a:extLst>
          </p:cNvPr>
          <p:cNvSpPr txBox="1"/>
          <p:nvPr/>
        </p:nvSpPr>
        <p:spPr>
          <a:xfrm>
            <a:off x="673795" y="1163254"/>
            <a:ext cx="807775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Dijkstra's Algorithm is named after computer scientist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Edsger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Dijkstra, who invented it in 1956.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uses greedy approach.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finds the shortest path from a source vertex to all other vertices in a weighted, directed or undirected graph.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can be applied on graphs with non-negative edge weights only.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F63294C-03FA-BF01-08EC-675DDB24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83A72F1-0E90-8ADA-3D37-94C6D0811CDF}"/>
              </a:ext>
            </a:extLst>
          </p:cNvPr>
          <p:cNvGrpSpPr/>
          <p:nvPr/>
        </p:nvGrpSpPr>
        <p:grpSpPr>
          <a:xfrm>
            <a:off x="652101" y="584375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BBBC9CF-DDE9-3FCC-716F-0267F3CF06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EE20B36-A71A-542D-69CF-72D4183785C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Dijkstra’s Algorithm 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BE4633C-DBDA-24B7-F45E-1E1AA6AD5CB8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757E96-D1F1-4F48-87D6-1452A7A656C0}"/>
              </a:ext>
            </a:extLst>
          </p:cNvPr>
          <p:cNvSpPr txBox="1"/>
          <p:nvPr/>
        </p:nvSpPr>
        <p:spPr>
          <a:xfrm>
            <a:off x="813816" y="1219586"/>
            <a:ext cx="75163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at each step, it selects the unvisited vertex closest to the source and declares its shortest distance as final.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This works because of a crucial property: once you've found the shortest path to a vertex, you never need to revisit 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The negative edge weights would violate this property, which is why Dijkstra's requires non-negative weights</a:t>
            </a:r>
            <a:r>
              <a:rPr lang="en-IN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2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289E77F-5240-2C9C-0E4E-596B25B7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4686587-E2F2-80D1-DEFB-F222FD621632}"/>
              </a:ext>
            </a:extLst>
          </p:cNvPr>
          <p:cNvGrpSpPr/>
          <p:nvPr/>
        </p:nvGrpSpPr>
        <p:grpSpPr>
          <a:xfrm>
            <a:off x="652101" y="584375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9B43CC1-8318-0091-2C54-5DE48DBA100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4A6032E-513C-5CAA-4C95-ACC10DF560B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Dijkstra’s Algorithm 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FD33DF8-9826-1159-1504-8362577AE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63F75B-CD06-61A4-4FAB-A936E5D9172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B5895-53C0-9644-3B2C-DE91BF272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725"/>
            <a:ext cx="4800600" cy="3581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609E26-67AE-7B6D-3620-48F86A606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826" y="1088725"/>
            <a:ext cx="3568700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05144A-6E4F-A8ED-C51A-B6DBA0175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9453" y="2977925"/>
            <a:ext cx="27940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3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C9AF87B-53ED-5E93-85CB-C44753AF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C97C324-8095-D1D1-451C-E69B7BB19F5E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ECA6B473-6CFD-4D70-B840-4A9BC120B42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8886EBD-0FFF-EBAF-3E94-1C981DCDAC0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22B742F-AE4A-6C73-84DF-385FC40527A0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pic>
        <p:nvPicPr>
          <p:cNvPr id="2" name="Picture 1" descr="Dijkstra's Algorithm">
            <a:extLst>
              <a:ext uri="{FF2B5EF4-FFF2-40B4-BE49-F238E27FC236}">
                <a16:creationId xmlns:a16="http://schemas.microsoft.com/office/drawing/2014/main" id="{11D02849-47ED-B798-129B-F4BD1ED48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699" y="641068"/>
            <a:ext cx="2875900" cy="21543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477D7E-E633-E049-7632-03162B3F49B3}"/>
              </a:ext>
            </a:extLst>
          </p:cNvPr>
          <p:cNvSpPr txBox="1"/>
          <p:nvPr/>
        </p:nvSpPr>
        <p:spPr>
          <a:xfrm>
            <a:off x="202865" y="3580185"/>
            <a:ext cx="79605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Step1: insert all the nodes in a Min. Priority queue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i.e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Q =[s, t, x, y, z]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 remove the node with minimum value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i.e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 (source node) 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push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source node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 in stack M.</a:t>
            </a:r>
          </a:p>
          <a:p>
            <a:pPr algn="just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 = [S]       Q = [t, x, y, z]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5B38D3-1AA5-0A7E-BD09-643A8BFFE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97522"/>
              </p:ext>
            </p:extLst>
          </p:nvPr>
        </p:nvGraphicFramePr>
        <p:xfrm>
          <a:off x="3657537" y="2787705"/>
          <a:ext cx="234000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33957422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334225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5062096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6822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64404626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41924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32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23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984CDF4-03F5-702C-D5D4-D79BA042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62B2977E-EF4F-49DF-C5F6-4DAE3DFE10F1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6763BA7-4BA6-A08D-D2E8-33ECB13525B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B21BBA0-5A70-DB0C-F177-325EF84FA09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0E737BB-D928-3885-4FF5-B4215620796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pic>
        <p:nvPicPr>
          <p:cNvPr id="2" name="Picture 1" descr="Dijkstra's Algorithm">
            <a:extLst>
              <a:ext uri="{FF2B5EF4-FFF2-40B4-BE49-F238E27FC236}">
                <a16:creationId xmlns:a16="http://schemas.microsoft.com/office/drawing/2014/main" id="{1823AC15-74D5-429E-48AE-3524004EC2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96" y="1755406"/>
            <a:ext cx="2247900" cy="15468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9366FD-8CF4-6A8A-2FEE-AE4B0BD38A38}"/>
              </a:ext>
            </a:extLst>
          </p:cNvPr>
          <p:cNvSpPr txBox="1"/>
          <p:nvPr/>
        </p:nvSpPr>
        <p:spPr>
          <a:xfrm>
            <a:off x="5555139" y="1419404"/>
            <a:ext cx="35536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Case - (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) 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 → t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d [v] &gt; d [u] + w [u, v]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d [t] &gt; d [s] + w [s, t]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∞ &gt; 0 + 10                [true]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Then       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 [t] ← 10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 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π [t] ← 5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Case - (ii) 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s→ y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d [v] &gt; d [u] + w [u, v]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d [y] &gt; d [s] + w [s, y]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∞ &gt; 0 + 5                [true]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   ∞ &gt; 5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Then       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 [y] ← 5</a:t>
            </a:r>
            <a:b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              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π [y] ← 5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491E1B-87EC-CD08-5F79-AE291A4158BF}"/>
              </a:ext>
            </a:extLst>
          </p:cNvPr>
          <p:cNvSpPr txBox="1"/>
          <p:nvPr/>
        </p:nvSpPr>
        <p:spPr>
          <a:xfrm>
            <a:off x="610891" y="1226472"/>
            <a:ext cx="38651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Step 2: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 Now find the adjacent of s that are t and y.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Adj [s] → t, y      [Here s is u and t and y are v]  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168C392-3FF3-3E87-FB71-94F22A10D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68951"/>
              </p:ext>
            </p:extLst>
          </p:nvPr>
        </p:nvGraphicFramePr>
        <p:xfrm>
          <a:off x="1134145" y="3520788"/>
          <a:ext cx="234000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33957422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334225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5062096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6822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64404626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41924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32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73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7536228-35D8-76F3-3414-12320B1F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24A022C-27BB-5B3D-FE27-6004EF7EBC36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43CD634-8B1D-2A34-B3AA-2B13A65DC052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B64C230-6A72-C3EA-2790-10756272BCC2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FB940D-DC6E-7680-CB69-820FF32D420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3" name="Picture 2" descr="Dijkstra's Algorithm">
            <a:extLst>
              <a:ext uri="{FF2B5EF4-FFF2-40B4-BE49-F238E27FC236}">
                <a16:creationId xmlns:a16="http://schemas.microsoft.com/office/drawing/2014/main" id="{266E29B8-A921-E9B5-96FF-6B37A7B1C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74" y="3349144"/>
            <a:ext cx="20497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C9B65C-24E1-6CAC-B832-19E581D4B731}"/>
              </a:ext>
            </a:extLst>
          </p:cNvPr>
          <p:cNvSpPr txBox="1"/>
          <p:nvPr/>
        </p:nvSpPr>
        <p:spPr>
          <a:xfrm>
            <a:off x="6102019" y="1110342"/>
            <a:ext cx="2791557" cy="394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- 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y →t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[t] &gt; d [y] + w [y, t]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10 &gt; 5 + 3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10 &gt; 8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     d [t] ← 8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π [t] ← y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- (ii)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y → x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[x] &gt; d [y] + w [y, x]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∞ &gt; 5 + 9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∞ &gt; 14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      d [x] ← 14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π [x] ← 14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- (iii)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y → z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d [z] &gt; d [y] + w [y, z]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∞ &gt; 5 + 2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∞ &gt; 7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      d [z] ← 7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π [z] ← y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3B408-FDD5-09C3-4E77-D51BCB890C7B}"/>
              </a:ext>
            </a:extLst>
          </p:cNvPr>
          <p:cNvSpPr txBox="1"/>
          <p:nvPr/>
        </p:nvSpPr>
        <p:spPr>
          <a:xfrm>
            <a:off x="936381" y="944767"/>
            <a:ext cx="5319346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Now remove the next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 with min. value i.e. y=5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repeat the same process for y 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 find the adjacent of y that is t, x, z.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 [y] → t, x, z   [Here y is u and t, x, z are v] 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EA3C67-F93A-6E60-B182-326A03A25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230292"/>
              </p:ext>
            </p:extLst>
          </p:nvPr>
        </p:nvGraphicFramePr>
        <p:xfrm>
          <a:off x="1684727" y="2376306"/>
          <a:ext cx="234000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33957422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334225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5062096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6822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64404626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41924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323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09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0BF8206-3D07-1A27-52EB-35A296C2F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A8452F0-184A-1297-9B5B-B4E6731915CA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89E55DF-5B27-C269-AC1D-61B965EA896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EA167CF-6B82-DF3D-809C-02E91315261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43DF56A-7BF8-0E61-1254-FB35E3B3B32C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pic>
        <p:nvPicPr>
          <p:cNvPr id="2" name="Picture 1" descr="Dijkstra's Algorithm">
            <a:extLst>
              <a:ext uri="{FF2B5EF4-FFF2-40B4-BE49-F238E27FC236}">
                <a16:creationId xmlns:a16="http://schemas.microsoft.com/office/drawing/2014/main" id="{91C92EE8-D2FB-51E4-652D-4D0942DF8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771" y="3242478"/>
            <a:ext cx="2171700" cy="15925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794285-7439-25B9-AFF0-9916C97705C5}"/>
              </a:ext>
            </a:extLst>
          </p:cNvPr>
          <p:cNvSpPr txBox="1"/>
          <p:nvPr/>
        </p:nvSpPr>
        <p:spPr>
          <a:xfrm>
            <a:off x="5048655" y="1126436"/>
            <a:ext cx="4572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- 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z → x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[x] &gt; d [z] + w [z, x]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14 &gt; 7 + 6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14 &gt; 13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       d [x] ← 13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π [x] ← z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Case - (ii)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z → s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d [s] &gt; d [z] + w [z, s]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0 &gt; 7 + 7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0 &gt; 14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 [false]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C7AEC4-0BF9-A3B3-8B60-830144946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580095"/>
              </p:ext>
            </p:extLst>
          </p:nvPr>
        </p:nvGraphicFramePr>
        <p:xfrm>
          <a:off x="1295621" y="2277775"/>
          <a:ext cx="234000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33957422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334225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5062096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6822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64404626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41924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3232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4CE7A60-86E7-81B1-ABC5-CB283BC47068}"/>
              </a:ext>
            </a:extLst>
          </p:cNvPr>
          <p:cNvSpPr txBox="1"/>
          <p:nvPr/>
        </p:nvSpPr>
        <p:spPr>
          <a:xfrm>
            <a:off x="668872" y="1104732"/>
            <a:ext cx="4810326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Now remove the next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 with min. value i.e. z=7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repeat the same process for z 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 find the adjacent of z that is  x, s.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 [z] → x, s   [Here z is u and x, s are v] 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6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945A2DE-861B-5975-6E04-DFB4A71C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676A673-CC45-C577-FC61-A8BFF7A5F338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7F4BCF88-32CA-6F80-C502-AD653C76A8B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0A2BFF4-2C51-57EC-481D-24B0F54A139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79301DC-5581-7291-E047-80E22CF5FD5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pic>
        <p:nvPicPr>
          <p:cNvPr id="3" name="Picture 2" descr="Dijkstra's Algorithm">
            <a:extLst>
              <a:ext uri="{FF2B5EF4-FFF2-40B4-BE49-F238E27FC236}">
                <a16:creationId xmlns:a16="http://schemas.microsoft.com/office/drawing/2014/main" id="{1F36194F-09E9-8083-B6E6-5786C2746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710" y="3332748"/>
            <a:ext cx="2171700" cy="159258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E4C9BB-C735-7C08-1061-46E1DAC6191E}"/>
              </a:ext>
            </a:extLst>
          </p:cNvPr>
          <p:cNvSpPr txBox="1"/>
          <p:nvPr/>
        </p:nvSpPr>
        <p:spPr>
          <a:xfrm>
            <a:off x="4815192" y="1905780"/>
            <a:ext cx="398590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- 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 → x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d [x] &gt; d [t] + w [t, x]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13 &gt; 8 + 1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13 &gt; 9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       d [x] ← 9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 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 [x] ← t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Case - (ii)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t → y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d [v] &gt; d [u] + w [u, v]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d [y] &gt; d [t] + w [t, y]</a:t>
            </a:r>
            <a:b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            5 &gt; 10   [False]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936AA0-A0CC-7061-4930-45128F63C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60945"/>
              </p:ext>
            </p:extLst>
          </p:nvPr>
        </p:nvGraphicFramePr>
        <p:xfrm>
          <a:off x="1256710" y="2390573"/>
          <a:ext cx="2340000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33957422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3334225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5062096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186822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64404626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41924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ysClr val="windowText" lastClr="0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3232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31EF70-BC12-59CF-AF99-49DAA227DD1B}"/>
              </a:ext>
            </a:extLst>
          </p:cNvPr>
          <p:cNvSpPr txBox="1"/>
          <p:nvPr/>
        </p:nvSpPr>
        <p:spPr>
          <a:xfrm>
            <a:off x="668872" y="1104732"/>
            <a:ext cx="4810326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Now remove the next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 with min. value i.e. t=8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repeat the same process for t. 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 find the adjacent of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is  x,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 [t] → x, 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 [Here 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 u and x, 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are v]  </a:t>
            </a:r>
            <a:endParaRPr lang="en-IN" sz="1100" dirty="0">
              <a:effectLst/>
              <a:latin typeface="Georgia" panose="02040502050405020303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97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F0E1BB-57FD-55D5-07D2-A30AF09CE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D9876A2-9C2C-F489-6AAA-CC24D9E54BA1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5164B30-EC2E-052C-4767-C3A5AF8BF95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A133CE8-2BE2-8046-5D5B-0F64D005086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Examp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le(</a:t>
              </a:r>
              <a:r>
                <a:rPr lang="en-US" sz="4000" b="1" dirty="0" err="1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contd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…)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D0210F7-77F2-DD9C-DA8C-D2D1A9DF41C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pic>
        <p:nvPicPr>
          <p:cNvPr id="2" name="Picture 1" descr="Dijkstra's Algorithm">
            <a:extLst>
              <a:ext uri="{FF2B5EF4-FFF2-40B4-BE49-F238E27FC236}">
                <a16:creationId xmlns:a16="http://schemas.microsoft.com/office/drawing/2014/main" id="{FB7C3D82-EFBF-038F-E687-0B59BD2F6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070" y="662772"/>
            <a:ext cx="2316480" cy="163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Dijkstra's Algorithm">
            <a:extLst>
              <a:ext uri="{FF2B5EF4-FFF2-40B4-BE49-F238E27FC236}">
                <a16:creationId xmlns:a16="http://schemas.microsoft.com/office/drawing/2014/main" id="{66737AC6-FCF7-736C-BC31-BEB152C70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584382"/>
            <a:ext cx="4000500" cy="25755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268318-D5B5-9622-3D3F-C7E0056A7C80}"/>
              </a:ext>
            </a:extLst>
          </p:cNvPr>
          <p:cNvSpPr txBox="1"/>
          <p:nvPr/>
        </p:nvSpPr>
        <p:spPr>
          <a:xfrm>
            <a:off x="571500" y="1237659"/>
            <a:ext cx="4572000" cy="140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6:</a:t>
            </a:r>
            <a:r>
              <a:rPr lang="en-US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Now remove the next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 with min. value i.e. x=9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repeat the same process for x. 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IN" sz="1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removing x, there will be no change in the distances of adjacent nodes.</a:t>
            </a:r>
          </a:p>
          <a:p>
            <a:pPr>
              <a:lnSpc>
                <a:spcPts val="1200"/>
              </a:lnSpc>
              <a:spcAft>
                <a:spcPts val="600"/>
              </a:spcAft>
              <a:buNone/>
            </a:pPr>
            <a:r>
              <a:rPr lang="en-IN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 the queue is empty so process will stop here and we have found the shortest path from source node to every other node of the graph.</a:t>
            </a:r>
            <a:endParaRPr lang="en-US" sz="14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54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BA9EAF8-2696-604F-4567-B9D72DE4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6D419DA9-7B3C-2FCD-EEDE-669CCDD8D1C9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9166B5-AA3C-06FB-6FB0-92E8B42540A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7A7F800-9617-31A1-F1FD-AEA509B8199F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Dijkstra vs O</a:t>
              </a: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ther Algorithms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C987DBC-6DB8-C84B-0BFC-E305DA044AE2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25A310-A840-ECF1-9FD8-4E8EE90F7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574093"/>
              </p:ext>
            </p:extLst>
          </p:nvPr>
        </p:nvGraphicFramePr>
        <p:xfrm>
          <a:off x="1656373" y="1239650"/>
          <a:ext cx="6817360" cy="198120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04340">
                  <a:extLst>
                    <a:ext uri="{9D8B030D-6E8A-4147-A177-3AD203B41FA5}">
                      <a16:colId xmlns:a16="http://schemas.microsoft.com/office/drawing/2014/main" val="104324658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00192774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4016858688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481840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b="1">
                          <a:solidFill>
                            <a:sysClr val="windowText" lastClr="000000"/>
                          </a:solidFill>
                          <a:effectLst/>
                        </a:rPr>
                        <a:t>Aspect</a:t>
                      </a:r>
                      <a:endParaRPr lang="en-IN" sz="1050" b="1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Dijkstra</a:t>
                      </a:r>
                      <a:endParaRPr lang="en-IN" sz="1050" b="1" dirty="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b="1">
                          <a:solidFill>
                            <a:sysClr val="windowText" lastClr="000000"/>
                          </a:solidFill>
                          <a:effectLst/>
                        </a:rPr>
                        <a:t>BFS</a:t>
                      </a:r>
                      <a:endParaRPr lang="en-IN" sz="1050" b="1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Bellman-Ford</a:t>
                      </a:r>
                      <a:endParaRPr lang="en-IN" sz="1050" b="1" dirty="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4027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Edge Weights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Non-negative only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Unweighted (equal)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</a:rPr>
                        <a:t>Negative allowed</a:t>
                      </a:r>
                      <a:endParaRPr lang="en-IN" sz="1050" dirty="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942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Time Complexity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O(E log V)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O(V + E)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O(VE)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550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Detects Negative Cycles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No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N/A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Yes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815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Use Case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General shortest path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Unweighted shortest path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Negative weights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6910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Optimality Guaranteed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✓ Yes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>
                          <a:solidFill>
                            <a:sysClr val="windowText" lastClr="000000"/>
                          </a:solidFill>
                          <a:effectLst/>
                        </a:rPr>
                        <a:t>✓ Yes (for equal weights)</a:t>
                      </a:r>
                      <a:endParaRPr lang="en-IN" sz="105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2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effectLst/>
                        </a:rPr>
                        <a:t>✓ Yes</a:t>
                      </a:r>
                      <a:endParaRPr lang="en-IN" sz="1050" dirty="0">
                        <a:solidFill>
                          <a:sysClr val="windowText" lastClr="000000"/>
                        </a:solidFill>
                        <a:effectLst/>
                        <a:latin typeface="Georgia" panose="02040502050405020303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7057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216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Applications of the Topic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88023" y="1089512"/>
            <a:ext cx="7218485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1. GPS Navigation &amp; Mapping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2. Network Routing (OSPF Protocol)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3. Social Networks: Finding Closest Connections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4. Airline Route Planning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5. Game Development: Pathfinding for NPCs</a:t>
            </a:r>
            <a:endParaRPr lang="en-IN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192499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0069C43-A6C1-2A5A-FF86-50FF7E83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indent="-514350" algn="just">
              <a:lnSpc>
                <a:spcPct val="90000"/>
              </a:lnSpc>
              <a:buFont typeface="+mj-lt"/>
              <a:buAutoNum type="arabicPeriod"/>
            </a:pP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of Dijkstra’s </a:t>
            </a:r>
            <a: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Algorithm to solve single source shortest path problem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3356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1A71372-B014-307D-6154-2C9E638CD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736270" y="218172"/>
            <a:ext cx="828897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Bellman Ford Algorithm for single source shortest path problem.</a:t>
            </a:r>
            <a:endParaRPr lang="en-US" sz="28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22310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D1B78-4350-245A-64E9-9868EA13CC69}"/>
              </a:ext>
            </a:extLst>
          </p:cNvPr>
          <p:cNvSpPr txBox="1"/>
          <p:nvPr/>
        </p:nvSpPr>
        <p:spPr>
          <a:xfrm>
            <a:off x="565284" y="1049593"/>
            <a:ext cx="4212408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1. Which condition is essential for the correctness of Dijkstra’s algorithm?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All edge weights must be nonnegative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The graph must be connected and undirected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The graph must be acyclic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All edge weights must be strictly positive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2. Suppose Dijkstra’s algorithm is implemented with a binary min-heap priority queue and adjacency lists on a graph with 𝑉 vertices and 𝐸 edges. What is the time complexity?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𝒪(𝑉 log⁡𝐸 )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𝒪(𝐸+𝑉)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𝒪((𝑉+𝐸)  log⁡𝑉 )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𝒪(𝑉^2 )</a:t>
            </a:r>
          </a:p>
          <a:p>
            <a:endParaRPr lang="en-IN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BCEA4-EEBC-96EC-76ED-A26DB787F205}"/>
              </a:ext>
            </a:extLst>
          </p:cNvPr>
          <p:cNvSpPr txBox="1"/>
          <p:nvPr/>
        </p:nvSpPr>
        <p:spPr>
          <a:xfrm>
            <a:off x="4700336" y="1049593"/>
            <a:ext cx="444549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3. Why does Dijkstra’s algorithm fail with negative edge weights?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Because a later path can undercut a finalized distance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Because it cannot relax edges with negative weights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Because the priority queue cannot handle negative keys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Because it requires a DAG to function</a:t>
            </a:r>
          </a:p>
          <a:p>
            <a:endParaRPr lang="ar-AE" sz="13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4. If all edges have equal positive weight 𝑤, which algorithm is effectively equivalent to Dijkstra’s for finding shortest paths?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a) Bellman–Ford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b) Kruskal’s algorithm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c) Depth-first search</a:t>
            </a:r>
          </a:p>
          <a:p>
            <a:r>
              <a:rPr lang="en-IN" sz="1300" dirty="0">
                <a:latin typeface="Calibri" panose="020F0502020204030204" pitchFamily="34" charset="0"/>
                <a:cs typeface="Calibri" panose="020F0502020204030204" pitchFamily="34" charset="0"/>
              </a:rPr>
              <a:t>d) Breadth-first search</a:t>
            </a:r>
          </a:p>
          <a:p>
            <a:endParaRPr lang="en-IN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021177"/>
            <a:ext cx="8942119" cy="3993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books: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Cormen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Leiserson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Rivest, Stein, “Introduction to Algorithms”, Prentice Hall of India, 3rd edition 2012. problem, Graph coloring.</a:t>
            </a:r>
          </a:p>
          <a:p>
            <a:pPr marL="457200" indent="-4572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Horowitz, Sahni and Rajasekaran, “Fundamentals of </a:t>
            </a:r>
            <a:r>
              <a:rPr lang="en-US" sz="2500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ComputerAlgorithms</a:t>
            </a: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”, University Press (India), 2nd edition</a:t>
            </a:r>
          </a:p>
          <a:p>
            <a:pPr algn="just">
              <a:lnSpc>
                <a:spcPct val="90000"/>
              </a:lnSpc>
            </a:pPr>
            <a:r>
              <a:rPr lang="en-US" sz="25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https://www.coursera.org/learn/algorithms-graphs-data-structures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https://ocw.mit.edu/courses/6-006-introduction-to-algorithms-spring-2020/</a:t>
            </a: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D00F48-AF9F-87AF-B3AB-2CA9606A4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4989" y="1285244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59C2B9C-619B-7F1D-73C8-04AA5F67C4ED}"/>
              </a:ext>
            </a:extLst>
          </p:cNvPr>
          <p:cNvSpPr txBox="1"/>
          <p:nvPr/>
        </p:nvSpPr>
        <p:spPr>
          <a:xfrm>
            <a:off x="50843" y="1907716"/>
            <a:ext cx="894211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https://www.youtube.com/watch?v=bZkzH5x0SKU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https://www.youtube.com/watch?v=j0OUwduDOS0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https://nptel.ac.in/courses/106108468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https://nptel.ac.in/courses/106106131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sumit.e18380@cumail.in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1814</Words>
  <Application>Microsoft Macintosh PowerPoint</Application>
  <PresentationFormat>On-screen Show (16:9)</PresentationFormat>
  <Paragraphs>207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Times New Roman</vt:lpstr>
      <vt:lpstr>Georgia</vt:lpstr>
      <vt:lpstr>Calibri</vt:lpstr>
      <vt:lpstr>Vladimir Script</vt:lpstr>
      <vt:lpstr>Lato</vt:lpstr>
      <vt:lpstr>Arial Black</vt:lpstr>
      <vt:lpstr>Arial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sumit rana</cp:lastModifiedBy>
  <cp:revision>187</cp:revision>
  <dcterms:modified xsi:type="dcterms:W3CDTF">2025-12-15T15:21:49Z</dcterms:modified>
</cp:coreProperties>
</file>
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285" r:id="rId4"/>
    <p:sldId id="308" r:id="rId5"/>
    <p:sldId id="309" r:id="rId6"/>
    <p:sldId id="314" r:id="rId7"/>
    <p:sldId id="315" r:id="rId8"/>
    <p:sldId id="316" r:id="rId9"/>
    <p:sldId id="317" r:id="rId10"/>
    <p:sldId id="286" r:id="rId11"/>
    <p:sldId id="292" r:id="rId12"/>
    <p:sldId id="287" r:id="rId13"/>
    <p:sldId id="288" r:id="rId14"/>
    <p:sldId id="300" r:id="rId15"/>
    <p:sldId id="301" r:id="rId16"/>
    <p:sldId id="307" r:id="rId17"/>
    <p:sldId id="305" r:id="rId18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Vladimir Script" panose="03050402040407070305" pitchFamily="66" charset="77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5"/>
    <p:restoredTop sz="94678"/>
  </p:normalViewPr>
  <p:slideViewPr>
    <p:cSldViewPr snapToGrid="0">
      <p:cViewPr varScale="1">
        <p:scale>
          <a:sx n="145" d="100"/>
          <a:sy n="145" d="100"/>
        </p:scale>
        <p:origin x="123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C4437D9-07BB-356F-03EA-5A032FA2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97700B-7B36-DE79-AF5C-1266C13E9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17FC9D5-4DD7-5A2A-13C0-460F8F72E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2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7501EB-48D1-60CB-B016-2F27E0B5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8A71885-8AFE-8E12-D8BD-307404A08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8342CC6-1AA1-0C3B-23BD-AE08301AB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0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4135658-6CB2-4358-CCC6-B5344FE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8E441B-AE42-69FF-852A-1A8931EDF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D64233C-E05D-F43E-D55A-DCFA17184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4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FC78885-A990-CBB6-FB2C-5F73D089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AFB4E18-A070-06B3-7714-C0B3C4672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B688520-E2B8-F531-CE46-1F4FEA52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58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3D37C12-D14C-7C53-7B49-C0A7B8F1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AAC5B02-AAD3-DD1E-5BF5-676EE3DA0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9DE6E83-863C-E6DB-774C-341B48BE2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7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65D642A-D6F6-E87E-365C-49FB6341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D2F51-1E63-DFDB-A8CC-15C2B4A22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FAFB7F-0926-6092-53D1-1514A836C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34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90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iveable.me/graph-theory/unit-8/floyd-warshall-algorithm-all-pairs-shortest-paths/study-guide/QrUswOyrHaTAjmT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anfoundry.com/cpp-program-implement-floyd-warshall-algorith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Lg6Leb-xt0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ptel.ac.in/courses/106106131" TargetMode="External"/><Relationship Id="rId5" Type="http://schemas.openxmlformats.org/officeDocument/2006/relationships/hyperlink" Target="http://coursera.org/specializations/algorithms" TargetMode="External"/><Relationship Id="rId4" Type="http://schemas.openxmlformats.org/officeDocument/2006/relationships/hyperlink" Target="https://www.youtube.com/watch?v=4NQ3HnhyNfQ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AND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CSE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/ 4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SEMESTER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DESIGN AND ANALYSIS OF ALGORITHMS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(24CSH-206/24ITH-206)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3                      Chapter No. 1                     Lecture No. 35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:Floyd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Warshall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Algorithm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Sumit Kumar Rana E18380                                                       Associate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12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 understand Floyd </a:t>
            </a:r>
            <a:r>
              <a:rPr lang="en-US" sz="280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Warshall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Algorithm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calculate all pair shortest paths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algn="just">
              <a:lnSpc>
                <a:spcPct val="90000"/>
              </a:lnSpc>
            </a:pP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Floyd 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Warshall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Algorithm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516A7AF-FEFF-1208-4D57-1C31C5F7E7B9}"/>
              </a:ext>
            </a:extLst>
          </p:cNvPr>
          <p:cNvSpPr txBox="1"/>
          <p:nvPr/>
        </p:nvSpPr>
        <p:spPr>
          <a:xfrm>
            <a:off x="815821" y="1524031"/>
            <a:ext cx="807775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Floyd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Warshall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Algorithm is used to solve All Pairs Shortest Paths Problem.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computes the shortest path between every pair of vertices of the given graph.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uses dynamic programming approach.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It works for graphs with 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positive and negative edge weights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, provided there are no negative weight cycles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F63294C-03FA-BF01-08EC-675DDB24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83A72F1-0E90-8ADA-3D37-94C6D0811CDF}"/>
              </a:ext>
            </a:extLst>
          </p:cNvPr>
          <p:cNvGrpSpPr/>
          <p:nvPr/>
        </p:nvGrpSpPr>
        <p:grpSpPr>
          <a:xfrm>
            <a:off x="652101" y="584375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BBBC9CF-DDE9-3FCC-716F-0267F3CF06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EE20B36-A71A-542D-69CF-72D4183785C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Floyd 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Warshall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Algorithm 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DA9435E-2994-9308-F939-1D4750453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4633C-DBDA-24B7-F45E-1E1AA6AD5CB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9DD97A-913E-4D01-6CA1-5AED4EEA5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60" y="1086820"/>
            <a:ext cx="6945680" cy="325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2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C9AF87B-53ED-5E93-85CB-C44753AF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C97C324-8095-D1D1-451C-E69B7BB19F5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CA6B473-6CFD-4D70-B840-4A9BC120B42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8886EBD-0FFF-EBAF-3E94-1C981DCDAC0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22B742F-AE4A-6C73-84DF-385FC40527A0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33E044C-55DF-180F-DCED-E1729C55F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8172" y="794957"/>
            <a:ext cx="5832764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423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84CDF4-03F5-702C-D5D4-D79BA042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62B2977E-EF4F-49DF-C5F6-4DAE3DFE10F1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6763BA7-4BA6-A08D-D2E8-33ECB13525B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B21BBA0-5A70-DB0C-F177-325EF84FA09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0E737BB-D928-3885-4FF5-B4215620796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4" name="Google Shape;120;p19">
            <a:extLst>
              <a:ext uri="{FF2B5EF4-FFF2-40B4-BE49-F238E27FC236}">
                <a16:creationId xmlns:a16="http://schemas.microsoft.com/office/drawing/2014/main" id="{15FE432D-C073-E90A-D08C-CCC8800B0575}"/>
              </a:ext>
            </a:extLst>
          </p:cNvPr>
          <p:cNvSpPr txBox="1">
            <a:spLocks/>
          </p:cNvSpPr>
          <p:nvPr/>
        </p:nvSpPr>
        <p:spPr bwMode="auto">
          <a:xfrm>
            <a:off x="815821" y="684476"/>
            <a:ext cx="8001000" cy="406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Step-01: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Remove all the self loops and parallel edges (keeping the lowest weight edge) from the graph.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 the given graph, there are neither self edges nor parallel edges.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Step-02: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Write the initial distance matrix.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represents the distance between every pair of vertices in the form of given weights.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 diagonal elements (representing self-loops), distance value = 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 vertices having a direct edge between them, distance value = weight of that edge.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 vertices having no direct edge between them, distance value = ∞.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3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7536228-35D8-76F3-3414-12320B1F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24A022C-27BB-5B3D-FE27-6004EF7EBC36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43CD634-8B1D-2A34-B3AA-2B13A65DC05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B64C230-6A72-C3EA-2790-10756272BCC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FB940D-DC6E-7680-CB69-820FF32D420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FE02E-4D9D-EED1-0C14-0FA0CDA5C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7832" y="1147010"/>
            <a:ext cx="44862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559F1B-D692-8A73-8264-2938C72C626D}"/>
              </a:ext>
            </a:extLst>
          </p:cNvPr>
          <p:cNvSpPr txBox="1"/>
          <p:nvPr/>
        </p:nvSpPr>
        <p:spPr>
          <a:xfrm>
            <a:off x="1042737" y="1538554"/>
            <a:ext cx="48046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 distance matrix for the given graph is-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20E48E-522B-F248-8C12-FF3D588D0679}"/>
              </a:ext>
            </a:extLst>
          </p:cNvPr>
          <p:cNvSpPr/>
          <p:nvPr/>
        </p:nvSpPr>
        <p:spPr>
          <a:xfrm>
            <a:off x="665747" y="3724999"/>
            <a:ext cx="71467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Step-03: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Using Floyd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Warshall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Algorithm, write the following 4 matrices-</a:t>
            </a:r>
          </a:p>
        </p:txBody>
      </p:sp>
    </p:spTree>
    <p:extLst>
      <p:ext uri="{BB962C8B-B14F-4D97-AF65-F5344CB8AC3E}">
        <p14:creationId xmlns:p14="http://schemas.microsoft.com/office/powerpoint/2010/main" val="269209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0BF8206-3D07-1A27-52EB-35A296C2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A8452F0-184A-1297-9B5B-B4E6731915CA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89E55DF-5B27-C269-AC1D-61B965EA896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EA167CF-6B82-DF3D-809C-02E91315261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3DF56A-7BF8-0E61-1254-FB35E3B3B32C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04D887B-F6F3-4E0B-5D36-966E17237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3810" y="822089"/>
            <a:ext cx="3978442" cy="4321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386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945A2DE-861B-5975-6E04-DFB4A71C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676A673-CC45-C577-FC61-A8BFF7A5F338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F4BCF88-32CA-6F80-C502-AD653C76A8B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0A2BFF4-2C51-57EC-481D-24B0F54A139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9301DC-5581-7291-E047-80E22CF5FD5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86CA39-251F-7856-18C1-AA07F8111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5964" y="762000"/>
            <a:ext cx="4896100" cy="438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1297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the Topic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8942119" cy="254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Network Routing (Telecom/Data </a:t>
            </a:r>
            <a:r>
              <a:rPr lang="en-IN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Centers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Airline Route Optimization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GPS &amp; Navigation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Logistics &amp; Delivery Networks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cs typeface="Calibri" panose="020F0502020204030204" pitchFamily="34" charset="0"/>
              </a:rPr>
              <a:t>Currency Arbitrage Detection</a:t>
            </a: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4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9249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 algn="just">
              <a:lnSpc>
                <a:spcPct val="9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Floyd </a:t>
            </a:r>
            <a:r>
              <a:rPr lang="en-US" sz="28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Warshall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Algorithm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Sollin’s</a:t>
            </a: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Algorithm for MST</a:t>
            </a:r>
            <a:endParaRPr lang="en-US" sz="2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7D1B78-4350-245A-64E9-9868EA13CC69}"/>
                  </a:ext>
                </a:extLst>
              </p:cNvPr>
              <p:cNvSpPr txBox="1"/>
              <p:nvPr/>
            </p:nvSpPr>
            <p:spPr>
              <a:xfrm>
                <a:off x="565284" y="1049593"/>
                <a:ext cx="4212408" cy="3493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Given a directed weighted graph with possible negative edge weights but no negative cycles, what does the Floyd–</a:t>
                </a:r>
                <a:r>
                  <a:rPr lang="en-IN" sz="13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Warshall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algorithm compute when it finishes?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A topological order of vertices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b) A minimum spanning tree covering all vertices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c) Single-source shortest paths from an arbitrary start vertex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d) All-pairs shortest path distances and a predecessor structure to reconstruct paths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 Suppose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is initialized with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 sz="13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ar-AE" sz="13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edge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exists else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After Floyd–</a:t>
                </a:r>
                <a:r>
                  <a:rPr lang="en-IN" sz="13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Warshall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runs, how can you detect a reachable negative cycle?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a)If any row sum in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is negative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b) If any off-diagonal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becomes negative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c) If any diagonal entry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becomes negative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d)If the minimum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over all pairs is negative</a:t>
                </a:r>
              </a:p>
              <a:p>
                <a:endParaRPr lang="en-IN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7D1B78-4350-245A-64E9-9868EA13C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84" y="1049593"/>
                <a:ext cx="4212408" cy="3493264"/>
              </a:xfrm>
              <a:prstGeom prst="rect">
                <a:avLst/>
              </a:prstGeom>
              <a:blipFill>
                <a:blip r:embed="rId3"/>
                <a:stretch>
                  <a:fillRect l="-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4BCEA4-EEBC-96EC-76ED-A26DB787F205}"/>
                  </a:ext>
                </a:extLst>
              </p:cNvPr>
              <p:cNvSpPr txBox="1"/>
              <p:nvPr/>
            </p:nvSpPr>
            <p:spPr>
              <a:xfrm>
                <a:off x="4700336" y="1049593"/>
                <a:ext cx="4445495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3.What is the time and space complexity of the classic Floyd–</a:t>
                </a:r>
                <a:r>
                  <a:rPr lang="en-IN" sz="13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Warshall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implementation on a graph with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vertices?</a:t>
                </a: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Time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Space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ar-AE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b) Time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sz="13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Space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c) Time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Space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sz="13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ar-AE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d) Time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sz="13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unc>
                          <m:func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3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ar-AE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Space </a:t>
                </a:r>
                <a14:m>
                  <m:oMath xmlns:m="http://schemas.openxmlformats.org/officeDocument/2006/math">
                    <m:r>
                      <a:rPr lang="en-IN" sz="130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sz="13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ar-AE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 A weighted directed graph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has no path from vertex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to vertex </a:t>
                </a:r>
                <a14:m>
                  <m:oMath xmlns:m="http://schemas.openxmlformats.org/officeDocument/2006/math">
                    <m:r>
                      <a:rPr lang="en-IN" sz="13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After Floyd–</a:t>
                </a:r>
                <a:r>
                  <a:rPr lang="en-IN" sz="13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Warshall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what will </a:t>
                </a:r>
                <a:r>
                  <a:rPr lang="en-IN" sz="13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dist</a:t>
                </a:r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[u][v] typically contain (with standard initialization)?</a:t>
                </a:r>
              </a:p>
              <a:p>
                <a:pPr lvl="1"/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0</a:t>
                </a:r>
              </a:p>
              <a:p>
                <a:pPr lvl="1"/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b) A large positive constant (treated as ∞)</a:t>
                </a:r>
              </a:p>
              <a:p>
                <a:pPr lvl="1"/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c) −∞</a:t>
                </a:r>
              </a:p>
              <a:p>
                <a:pPr lvl="1"/>
                <a:r>
                  <a:rPr lang="en-IN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d) The weight of the heaviest edge in the graph</a:t>
                </a:r>
              </a:p>
              <a:p>
                <a:endParaRPr lang="en-IN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4BCEA4-EEBC-96EC-76ED-A26DB787F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336" y="1049593"/>
                <a:ext cx="4445495" cy="2893100"/>
              </a:xfrm>
              <a:prstGeom prst="rect">
                <a:avLst/>
              </a:prstGeom>
              <a:blipFill>
                <a:blip r:embed="rId4"/>
                <a:stretch>
                  <a:fillRect l="-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021177"/>
            <a:ext cx="894211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books: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Leiserson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Rivest, Stein, “Introduction to Algorithms”, Prentice Hall of India, 3rd edition 2012. problem, Graph coloring.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Horowitz, Sahni and Rajasekaran, “Fundamentals of </a:t>
            </a: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ComputerAlgorithms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University Press (India), 2nd edition</a:t>
            </a:r>
          </a:p>
          <a:p>
            <a:pPr algn="just">
              <a:lnSpc>
                <a:spcPct val="90000"/>
              </a:lnSpc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Websites: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https://fiveable.me/graph-theory/unit-8/floyd-warshall-algorithm-all-pairs-shortest-paths/study-guide/QrUswOyrHaTAjmT4</a:t>
            </a:r>
            <a:endParaRPr lang="en-US" sz="25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https://www.sanfoundry.com/cpp-program-implement-floyd-warshall-algorithm/</a:t>
            </a:r>
            <a:endParaRPr lang="en-US" sz="25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50843" y="1907716"/>
            <a:ext cx="8942119" cy="2203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https://www.youtube.com/watch?v=sLg6Leb-xt0</a:t>
            </a:r>
            <a:endParaRPr lang="en-IN" sz="28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https://www.youtube.com/watch?v=4NQ3HnhyNfQ</a:t>
            </a:r>
            <a:endParaRPr lang="en-IN" sz="28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u="sng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http://coursera.org/specializations/algorithms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u="sng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https://nptel.ac.in/courses/106106131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sumit.e18380@cumail.in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825</Words>
  <Application>Microsoft Macintosh PowerPoint</Application>
  <PresentationFormat>On-screen Show (16:9)</PresentationFormat>
  <Paragraphs>118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Times New Roman</vt:lpstr>
      <vt:lpstr>Calibri</vt:lpstr>
      <vt:lpstr>Cambria Math</vt:lpstr>
      <vt:lpstr>Vladimir Script</vt:lpstr>
      <vt:lpstr>Lato</vt:lpstr>
      <vt:lpstr>Arial Black</vt:lpstr>
      <vt:lpstr>Arial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sumit rana</cp:lastModifiedBy>
  <cp:revision>139</cp:revision>
  <dcterms:modified xsi:type="dcterms:W3CDTF">2025-12-15T09:56:24Z</dcterms:modified>
</cp:coreProperties>
</file>
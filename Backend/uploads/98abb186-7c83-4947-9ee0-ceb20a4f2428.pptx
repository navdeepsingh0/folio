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3" r:id="rId3"/>
    <p:sldId id="382" r:id="rId4"/>
    <p:sldId id="385" r:id="rId5"/>
    <p:sldId id="386" r:id="rId6"/>
    <p:sldId id="387" r:id="rId7"/>
    <p:sldId id="388" r:id="rId8"/>
    <p:sldId id="389" r:id="rId9"/>
    <p:sldId id="330" r:id="rId10"/>
    <p:sldId id="292" r:id="rId11"/>
    <p:sldId id="287" r:id="rId12"/>
    <p:sldId id="288" r:id="rId13"/>
    <p:sldId id="300" r:id="rId14"/>
    <p:sldId id="301" r:id="rId15"/>
    <p:sldId id="307" r:id="rId16"/>
    <p:sldId id="305" r:id="rId17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Vladimir Script" panose="03050402040407070305" pitchFamily="66" charset="77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27"/>
    <p:restoredTop sz="94611"/>
  </p:normalViewPr>
  <p:slideViewPr>
    <p:cSldViewPr snapToGrid="0">
      <p:cViewPr varScale="1">
        <p:scale>
          <a:sx n="35" d="100"/>
          <a:sy n="35" d="100"/>
        </p:scale>
        <p:origin x="176" y="19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3615192-3221-FF9E-87BD-90A96855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90BB473-B1A7-2D22-4BB9-B77CBC899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E73CD79-59AE-18EE-E79E-53855DAB7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19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67FC406-0AFF-6CC8-0002-25BDBDDF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A277F25-5BA0-417F-F5EE-BA4ECA8A9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492BDEB-6348-98CC-7F0B-F98F24AFA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1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3973582-E313-7320-0343-747278BDE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F3A54FE-76F5-A496-F9A2-DBEFA6570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8C0841F-9138-08CE-C3D6-5A002FEDB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6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D244B08-8389-63A7-93CF-E2A6F261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471FD4F-7275-0AF1-CCDA-6D1251EB9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7943FFC-68AB-7068-5923-21A871D72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30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3BB6E3C-23D6-592A-5077-92298BD2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B97EDD1-0560-56BC-D567-F8A10B5B0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07451D7-3F6A-61F2-81CF-BDF1ECA68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3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6C9074C-7A8A-90B2-FBC3-EECB5902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AFBE28B-C089-4C92-6D15-7F03A83D5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2D5A6E2-DBCD-3BD0-6B31-D3CEC8EC2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12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90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9BB20D-1518-9F15-1CCE-CE578D8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B2C4164-46C2-3D2D-CC97-C7EB21B4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45A4AC1-BC45-B230-13DC-073DE8430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90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1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ptel.ac.in/courses/106102064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oursera.org/learn/algorithms-on-graph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z1KZXbghj8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ptel.ac.in/courses/10610206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AND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CSE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/ 4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SEMESTER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DESIGN AND ANALYSIS OF ALGORITHMS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(24CSH-206)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</a:t>
            </a: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                  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 No. 14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Counting sort, Radix sort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Sumit Kumar Rana E18380                                                       Associate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5" y="200025"/>
            <a:ext cx="7748094" cy="462747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756676" y="1082770"/>
            <a:ext cx="82685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To understand the concept of sorting in linear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1CF3926-CF42-1AA8-E23C-88154141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76842EA-E34F-C185-97FC-BE500244ABF0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2286F0C-7A83-AB99-F624-5EAC3DD3797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5FF6231-BE1C-9592-3A32-8FA7ABD7E6B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Counting Sort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D43ACAE-1E4C-BB97-6B68-A8171E474D37}"/>
              </a:ext>
            </a:extLst>
          </p:cNvPr>
          <p:cNvSpPr txBox="1"/>
          <p:nvPr/>
        </p:nvSpPr>
        <p:spPr>
          <a:xfrm>
            <a:off x="724394" y="1082770"/>
            <a:ext cx="7633222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Counting sort is a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algorithm that works best when the input consists of integers in a small range (for example, marks from 0 to 100 or ages from 0 to 120). 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Core idea </a:t>
            </a:r>
          </a:p>
          <a:p>
            <a:pPr lvl="0"/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First, it does not compare elements like quicksort or </a:t>
            </a:r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mergesort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; instead, it just counts how many times each value appears. </a:t>
            </a:r>
          </a:p>
          <a:p>
            <a:pPr lvl="0"/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Then, using these counts, it directly decides where each value should go in the sorted array. 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Think of sorting students by their marks (0–100):</a:t>
            </a:r>
          </a:p>
          <a:p>
            <a:pPr lvl="0"/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Create a “count array” with one box for every possible mark (0, 1, 2, …, 100) and initialize all to 0. </a:t>
            </a:r>
          </a:p>
          <a:p>
            <a:pPr lvl="0"/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Scan the original list; for every mark you see, increase the counter in that mark’s box (if you see 75, increment box 75). </a:t>
            </a:r>
          </a:p>
          <a:p>
            <a:pPr lvl="0"/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Convert these counts into cumulative counts so each box tells “how many elements are ≤ this value,” which gives the final positions. </a:t>
            </a:r>
          </a:p>
          <a:p>
            <a:pPr lvl="0"/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Now place each element into its correct position in the output array using these cumulative counts, adjusting the counts as you place.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746BD-E007-B21C-F8D8-F88C3B6C67BC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5933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EDF6CA0-F306-E65E-F913-6684478B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463C432-E48E-BB28-08EC-2561F70D9081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370B8E8-8B2F-BC3A-2CE4-7F98EA03882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A8F3E1-F529-0D72-2ED3-5960D904C219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Counting Sort (</a:t>
              </a:r>
              <a:r>
                <a:rPr lang="en-US" sz="4000" b="1" i="0" u="none" strike="noStrike" cap="none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contd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…)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83FD36-7DFC-9CBB-3854-033373EBF14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7974D5-7056-037D-36DD-542783C8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550" y="794957"/>
            <a:ext cx="4558538" cy="3565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6F1BAD-C3B1-B30B-50F2-8AC7EB09395E}"/>
              </a:ext>
            </a:extLst>
          </p:cNvPr>
          <p:cNvSpPr txBox="1"/>
          <p:nvPr/>
        </p:nvSpPr>
        <p:spPr>
          <a:xfrm>
            <a:off x="1316736" y="4445197"/>
            <a:ext cx="6986016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2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Cormen</a:t>
            </a: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Leiserson</a:t>
            </a: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Rivest, Stein, “Introduction to Algorithms”, Prentice Hall of India, 2012.</a:t>
            </a:r>
          </a:p>
        </p:txBody>
      </p:sp>
    </p:spTree>
    <p:extLst>
      <p:ext uri="{BB962C8B-B14F-4D97-AF65-F5344CB8AC3E}">
        <p14:creationId xmlns:p14="http://schemas.microsoft.com/office/powerpoint/2010/main" val="196600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D107C74-9DC6-32DD-876F-566C8C809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65D306D-A025-E49D-9283-29B25F893EA5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CE0ADD4-140E-B84D-88CA-908AD9E5AE7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BC82890-B4C8-8753-3DAA-09D10B9A603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Counting Sort (</a:t>
              </a:r>
              <a:r>
                <a:rPr lang="en-US" sz="4000" b="1" i="0" u="none" strike="noStrike" cap="none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contd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…)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BA4F14D-995C-4223-79DF-0796C09D4D8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C92A5F-A04B-3434-B327-9384C9424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397634"/>
            <a:ext cx="7390997" cy="30281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FB38FF-DAF0-40C0-B646-7197ADA2E7F8}"/>
              </a:ext>
            </a:extLst>
          </p:cNvPr>
          <p:cNvSpPr txBox="1"/>
          <p:nvPr/>
        </p:nvSpPr>
        <p:spPr>
          <a:xfrm>
            <a:off x="1316736" y="4445197"/>
            <a:ext cx="6986016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2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Cormen</a:t>
            </a: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Leiserson</a:t>
            </a: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Rivest, Stein, “Introduction to Algorithms”, Prentice Hall of India, 2012.</a:t>
            </a:r>
          </a:p>
        </p:txBody>
      </p:sp>
    </p:spTree>
    <p:extLst>
      <p:ext uri="{BB962C8B-B14F-4D97-AF65-F5344CB8AC3E}">
        <p14:creationId xmlns:p14="http://schemas.microsoft.com/office/powerpoint/2010/main" val="98505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E09D7F4-D8AA-8DD2-255A-F5DAA383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984CC-8D9E-8C8B-CDA9-104AEBB3A056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7C28B2C-B61C-A529-4C6A-9265546EDC5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47CCBE-D152-8B24-95E8-4A410E7FCED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Radix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Sort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AAE5DCD-45C0-CFC8-C117-842830782A7F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6D63E-44D4-AFB6-D693-D45E98370A8F}"/>
              </a:ext>
            </a:extLst>
          </p:cNvPr>
          <p:cNvSpPr txBox="1"/>
          <p:nvPr/>
        </p:nvSpPr>
        <p:spPr>
          <a:xfrm>
            <a:off x="844682" y="940264"/>
            <a:ext cx="745463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Radix sort is like sorting a deck of cards by treating numbers as multi-digit items and handling one digit at a time, starting from the rightmost (least significant) digit. It relies on a stable helper like counting sort to group numbers into "buckets" (0-9) without messing up previous orders. </a:t>
            </a:r>
          </a:p>
          <a:p>
            <a:pPr>
              <a:buNone/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Everyday Analogy</a:t>
            </a:r>
          </a:p>
          <a:p>
            <a:pPr>
              <a:buNone/>
            </a:pPr>
            <a:r>
              <a:rPr lang="en-IN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Imagine sorting phone numbers: first group by last digit (units place), then by tens, then hundreds—each pass refines the order perfectly. No direct comparisons between numbers; it's all about digit positions. </a:t>
            </a:r>
          </a:p>
          <a:p>
            <a:pPr>
              <a:buNone/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Step-by-Step Process</a:t>
            </a:r>
          </a:p>
          <a:p>
            <a:pPr>
              <a:buNone/>
            </a:pPr>
            <a:r>
              <a:rPr lang="en-IN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 array: 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Find max (802) to know digits (3 passes needed).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Pass 1 (units)</a:t>
            </a:r>
            <a:r>
              <a:rPr lang="en-IN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Use counting sort on units digits.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Pass 2 (tens)</a:t>
            </a:r>
            <a:r>
              <a:rPr lang="en-IN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Counting sort on tens.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Pass 3 (hundreds)</a:t>
            </a:r>
            <a:r>
              <a:rPr lang="en-IN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Counting sort on hundreds → (sorted!). </a:t>
            </a:r>
          </a:p>
        </p:txBody>
      </p:sp>
    </p:spTree>
    <p:extLst>
      <p:ext uri="{BB962C8B-B14F-4D97-AF65-F5344CB8AC3E}">
        <p14:creationId xmlns:p14="http://schemas.microsoft.com/office/powerpoint/2010/main" val="67195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43D0520-8513-D9A2-4D10-804461C6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68323AC-766E-A278-06F7-7D283E5F86A6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391528E5-F252-E43D-EBC5-F4830240184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81228B9-CA98-CBFE-76C5-75D356387F5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Radix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Sort (</a:t>
              </a:r>
              <a:r>
                <a:rPr lang="en-US" sz="4000" b="1" i="0" u="none" strike="noStrike" cap="none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contd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…)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7C3C6E1-6D95-751F-8BCF-5624866971C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74857-4ECF-CD49-E5C8-5BE1068D0171}"/>
              </a:ext>
            </a:extLst>
          </p:cNvPr>
          <p:cNvSpPr txBox="1"/>
          <p:nvPr/>
        </p:nvSpPr>
        <p:spPr>
          <a:xfrm>
            <a:off x="611450" y="886397"/>
            <a:ext cx="7998074" cy="327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b="1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Radix Sort Works?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1) Find the largest element in the array, i.e. max. Let X be the number of digits in max. X is calculated because we have to go through all the significant places of all elements. In this array [121, 432, 564, 23, 1, 45, 788], we have the largest number 788. It has 3 digits. Therefore, the loop should go up to hundreds place (3 times)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2) Now, go through each significant place one by one.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 any stable sorting technique to sort the digits at each significant place. We have used counting sort for this.</a:t>
            </a:r>
            <a:r>
              <a:rPr lang="en-IN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Sort the elements based on the unit place digits (X=0).</a:t>
            </a:r>
            <a:r>
              <a:rPr lang="en-IN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Counting Sort is a linear time sorting algorithm that sort in O(</a:t>
            </a:r>
            <a:r>
              <a:rPr lang="en-IN" dirty="0" err="1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n+k</a:t>
            </a:r>
            <a:r>
              <a:rPr lang="en-IN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time when elements are in range from 1 to k.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92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27C86B4-0F6A-9552-2CDD-731B7C2C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07F18FB-A0E4-7FDA-AB2F-D217BEDAD985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6AE461A-5CFB-F5E7-7728-CD996053011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B55FDCF-B38E-F490-B663-C19DB38516C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Radix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Sort (</a:t>
              </a:r>
              <a:r>
                <a:rPr lang="en-US" sz="4000" b="1" i="0" u="none" strike="noStrike" cap="none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contd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…)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85ED7B-6425-1919-7190-49D6BF7D019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2" name="Picture 1" descr="Radix Sort Working">
            <a:extLst>
              <a:ext uri="{FF2B5EF4-FFF2-40B4-BE49-F238E27FC236}">
                <a16:creationId xmlns:a16="http://schemas.microsoft.com/office/drawing/2014/main" id="{952D41EA-B8CD-38DD-0793-3E2740B40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487" y="794957"/>
            <a:ext cx="4424047" cy="41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895E7D-0BEE-0D9A-E753-6156CCD6F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94" y="1687257"/>
            <a:ext cx="41529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1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Applications of the Topic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451177" y="1188229"/>
            <a:ext cx="8158348" cy="235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Exam grading: Teachers sort student scores (0-100 range) to assign ranks or generate histograms quickly.​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Age demographics: Census data sorts populations by age groups for analysis without comparisons.​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Image processing: Counts pixel intensities for histogram equalization to enhance contrast.​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Vote tallying: Election systems count votes per candidate in real-time for instant results.​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Employee IDs or phone numbers: Sorts fixed-digit codes by processing one digit position at a time.​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Card sorting machines: Historical use in data processing for punched cards by numeric fields.​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Parallel/distributed systems: Handles large datasets across machines, like log file timestamps.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4649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0069C43-A6C1-2A5A-FF86-50FF7E83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736270" y="218172"/>
            <a:ext cx="739661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6023" y="1101387"/>
            <a:ext cx="8189223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 in Linear Time</a:t>
            </a:r>
          </a:p>
          <a:p>
            <a:pPr marL="342900" lvl="1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Counting Sort</a:t>
            </a:r>
          </a:p>
          <a:p>
            <a:pPr marL="342900" lvl="1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Radix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3356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736270" y="218172"/>
            <a:ext cx="7650230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988818" y="1284267"/>
            <a:ext cx="755429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Sorting in linear time: Bucket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2310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03582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D1B78-4350-245A-64E9-9868EA13CC69}"/>
              </a:ext>
            </a:extLst>
          </p:cNvPr>
          <p:cNvSpPr txBox="1"/>
          <p:nvPr/>
        </p:nvSpPr>
        <p:spPr>
          <a:xfrm>
            <a:off x="581659" y="1049593"/>
            <a:ext cx="409347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Suppose you apply counting sort to 𝑛 integers in the range 0 to 𝑘. What is the typical time complexity of this algorithm?</a:t>
            </a:r>
          </a:p>
          <a:p>
            <a:pPr marL="342900" indent="-342900">
              <a:buAutoNum type="alphaLcParenR"/>
            </a:pPr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𝒪(𝑘^2 ) because the frequency array is squared in size</a:t>
            </a:r>
          </a:p>
          <a:p>
            <a:pPr marL="342900" indent="-342900">
              <a:buAutoNum type="alphaLcParenR"/>
            </a:pPr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𝒪(𝑛 log⁡𝑛 ) because it sorts by comparing elements</a:t>
            </a:r>
          </a:p>
          <a:p>
            <a:pPr marL="342900" indent="-342900">
              <a:buAutoNum type="alphaLcParenR"/>
            </a:pPr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𝒪(𝑛^2 ) regardless of 𝑘</a:t>
            </a:r>
          </a:p>
          <a:p>
            <a:pPr marL="342900" indent="-342900">
              <a:buAutoNum type="alphaLcParenR"/>
            </a:pPr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𝒪(𝑛+𝑘) because it processes both the input and the key range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Which situation makes counting sort a poor choice compared with comparison-based algorithms like </a:t>
            </a:r>
            <a:r>
              <a:rPr lang="en-IN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mergesort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or quicksort?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When the input size 𝑛 is large but the key range 𝑘 is small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When the input is nearly sorted before applying the algorithm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When the key range 𝑘 is extremely large relative to 𝑛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When all keys are distinct and randomly distributed in a small range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BCEA4-EEBC-96EC-76ED-A26DB787F205}"/>
              </a:ext>
            </a:extLst>
          </p:cNvPr>
          <p:cNvSpPr txBox="1"/>
          <p:nvPr/>
        </p:nvSpPr>
        <p:spPr>
          <a:xfrm>
            <a:off x="4573832" y="1049593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In LSD radix sort for decimal digits (base 10), which order of digit processing will produce a correct final sort using a stable per-digit algorithm?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All digits processed simultaneously in parallel passes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Least significant digit first, then moving to more significant digits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Any random order of digits, because stability compensates for ordering</a:t>
            </a:r>
          </a:p>
          <a:p>
            <a:pPr marL="342900" indent="-3429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Most significant digit first, then moving to less significant digits</a:t>
            </a:r>
          </a:p>
          <a:p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What is the main space overhead of a straightforward counting sort implementation on 𝑛 elements with keys in 0..𝑘?</a:t>
            </a:r>
          </a:p>
          <a:p>
            <a:pPr marL="228600" indent="-2286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𝒪(1), because it sorts entirely in-place</a:t>
            </a:r>
          </a:p>
          <a:p>
            <a:pPr marL="228600" indent="-2286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𝒪(𝑘) extra space for the frequency array only</a:t>
            </a:r>
          </a:p>
          <a:p>
            <a:pPr marL="228600" indent="-2286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𝒪(𝑛+𝑘) extra space for both output and counting arrays</a:t>
            </a:r>
          </a:p>
          <a:p>
            <a:pPr marL="228600" indent="-228600">
              <a:buAutoNum type="alphaLcParenR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𝒪(𝑛) extra space for the output only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0010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679270" y="1101387"/>
            <a:ext cx="7593874" cy="3157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books: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Cormen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Leiserson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Rivest, Stein, “Introduction to Algorithms”, Prentice Hall of India, 3rd edition 2012.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Horowitz, Sahni and Rajasekaran, “Fundamentals of </a:t>
            </a:r>
            <a:r>
              <a:rPr lang="en-US" sz="24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ComputerAlgorithms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University Press (India), 2nd edition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Websites:</a:t>
            </a:r>
          </a:p>
          <a:p>
            <a:pPr lvl="0"/>
            <a:r>
              <a:rPr lang="en-IN" sz="24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https://nptel.ac.in/courses/106102064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24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https://www.coursera.org/learn/algorithms-on-graphs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2" y="263769"/>
            <a:ext cx="8120408" cy="91083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4989" y="1285244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59C2B9C-619B-7F1D-73C8-04AA5F67C4ED}"/>
              </a:ext>
            </a:extLst>
          </p:cNvPr>
          <p:cNvSpPr txBox="1"/>
          <p:nvPr/>
        </p:nvSpPr>
        <p:spPr>
          <a:xfrm>
            <a:off x="715861" y="1907716"/>
            <a:ext cx="82771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4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https://www.youtube.com/watch?v=Nz1KZXbghj8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24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https://nptel.ac.in/courses/106102064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17226"/>
            <a:ext cx="7754815" cy="1757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sumit.e18380@cumail.in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6331</TotalTime>
  <Words>1260</Words>
  <Application>Microsoft Macintosh PowerPoint</Application>
  <PresentationFormat>On-screen Show (16:9)</PresentationFormat>
  <Paragraphs>115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Calibri</vt:lpstr>
      <vt:lpstr>Wingdings</vt:lpstr>
      <vt:lpstr>Vladimir Script</vt:lpstr>
      <vt:lpstr>Arial Black</vt:lpstr>
      <vt:lpstr>Lato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sumit rana</cp:lastModifiedBy>
  <cp:revision>353</cp:revision>
  <dcterms:modified xsi:type="dcterms:W3CDTF">2025-12-22T16:05:10Z</dcterms:modified>
</cp:coreProperties>
</file>